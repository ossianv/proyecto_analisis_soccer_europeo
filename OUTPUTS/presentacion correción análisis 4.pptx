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822960" y="1280160"/>
            <a:ext cx="9601200" cy="914400"/>
          </a:xfrm>
          <a:prstGeom prst="rect">
            <a:avLst/>
          </a:prstGeom>
          <a:noFill/>
        </p:spPr>
        <p:txBody>
          <a:bodyPr wrap="square">
            <a:spAutoFit/>
          </a:bodyPr>
          <a:lstStyle/>
          <a:p>
            <a:pPr algn="l"/>
            <a:r>
              <a:rPr sz="2400" b="1">
                <a:solidFill>
                  <a:srgbClr val="1D4E89"/>
                </a:solidFill>
                <a:latin typeface="Aptos"/>
              </a:rPr>
              <a:t>Analisis de datos para decisiones futbolisticas</a:t>
            </a:r>
          </a:p>
        </p:txBody>
      </p:sp>
      <p:sp>
        <p:nvSpPr>
          <p:cNvPr id="3" name="TextBox 2"/>
          <p:cNvSpPr txBox="1"/>
          <p:nvPr/>
        </p:nvSpPr>
        <p:spPr>
          <a:xfrm>
            <a:off x="822960" y="2194560"/>
            <a:ext cx="9875520" cy="731520"/>
          </a:xfrm>
          <a:prstGeom prst="rect">
            <a:avLst/>
          </a:prstGeom>
          <a:noFill/>
        </p:spPr>
        <p:txBody>
          <a:bodyPr wrap="square">
            <a:spAutoFit/>
          </a:bodyPr>
          <a:lstStyle/>
          <a:p>
            <a:pPr algn="l"/>
            <a:r>
              <a:rPr sz="1500" b="0">
                <a:solidFill>
                  <a:srgbClr val="8D99AE"/>
                </a:solidFill>
                <a:latin typeface="Aptos"/>
              </a:rPr>
              <a:t>Scouting, perfiles de jugador, valor competitivo y apoyo a decisiones tacticas</a:t>
            </a:r>
          </a:p>
        </p:txBody>
      </p:sp>
      <p:sp>
        <p:nvSpPr>
          <p:cNvPr id="4" name="TextBox 3"/>
          <p:cNvSpPr txBox="1"/>
          <p:nvPr/>
        </p:nvSpPr>
        <p:spPr>
          <a:xfrm>
            <a:off x="822960" y="3931920"/>
            <a:ext cx="9601200" cy="1097280"/>
          </a:xfrm>
          <a:prstGeom prst="rect">
            <a:avLst/>
          </a:prstGeom>
          <a:noFill/>
        </p:spPr>
        <p:txBody>
          <a:bodyPr wrap="square">
            <a:spAutoFit/>
          </a:bodyPr>
          <a:lstStyle/>
          <a:p>
            <a:pPr algn="l"/>
            <a:r>
              <a:rPr sz="1800" b="0">
                <a:solidFill>
                  <a:srgbClr val="1F2937"/>
                </a:solidFill>
                <a:latin typeface="Aptos"/>
              </a:rPr>
              <a:t>Presentacion con graficas e interpretaciones del analisis.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01: Que atributos mirar en jugadores de campo?</a:t>
            </a:r>
          </a:p>
        </p:txBody>
      </p:sp>
      <p:pic>
        <p:nvPicPr>
          <p:cNvPr id="3" name="Picture 2" descr="image.png"/>
          <p:cNvPicPr>
            <a:picLocks noChangeAspect="1"/>
          </p:cNvPicPr>
          <p:nvPr/>
        </p:nvPicPr>
        <p:blipFill>
          <a:blip r:embed="rId2"/>
          <a:stretch>
            <a:fillRect/>
          </a:stretch>
        </p:blipFill>
        <p:spPr>
          <a:xfrm>
            <a:off x="2651759" y="1188720"/>
            <a:ext cx="6583680" cy="4937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01: Que atributos mirar en jugadores de campo?</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heatmap de jugadores de campo se observan bloques claros de atributos que se mueven casi juntos. Por ejemplo, ACCELERATION y SPRINT_SPEED tienen una correlación muy alta (0.89), lo que sugiere que ambas variables describen casi la misma dimensión de rapidez. Algo parecido ocurre con INTERCEPTIONS y STANDING_TACKLE (0.89), que representan un perfil defensivo muy similar.</a:t>
            </a:r>
          </a:p>
          <a:p>
            <a:pPr>
              <a:spcAft>
                <a:spcPts val="1000"/>
              </a:spcAft>
            </a:pPr>
            <a:r>
              <a:rPr sz="1800">
                <a:solidFill>
                  <a:srgbClr val="1F2937"/>
                </a:solidFill>
                <a:latin typeface="Aptos"/>
              </a:rPr>
              <a:t>También aparece un bloque técnico-ofensivo bastante marcado. DRIBBLING y BALL_CONTROL tienen una correlación alta (0.85), mientras que SHORT_PASSING y LONG_PASSING también se relacionan fuertemente (0.80). Además, FINISHING y POSITIONING muestran una correlación importante (0.80), lo que indica que los jugadores que suelen ubicarse mejor en zonas de ataque también tienden a definir mejor.</a:t>
            </a:r>
          </a:p>
          <a:p>
            <a:pPr>
              <a:spcAft>
                <a:spcPts val="1000"/>
              </a:spcAft>
            </a:pPr>
            <a:r>
              <a:rPr sz="1800">
                <a:solidFill>
                  <a:srgbClr val="1F2937"/>
                </a:solidFill>
                <a:latin typeface="Aptos"/>
              </a:rPr>
              <a:t>A nivel general, OVERALL_RATING se relaciona bastante con POTENTIAL (0.81) y con REACTIONS (0.78). Esto sugiere que la valoración global del jugador no depende de un solo atributo aislado, sino de combinaciones de técnica, lectura de juego y capacidad física. En otras palabras, para scouting de jugadores de campo no conviene tratar todas estas variables como independientes, porque varias son parcialmente redundantes y pueden resumirse por bloques.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02: Que atributos mirar en porteros?</a:t>
            </a:r>
          </a:p>
        </p:txBody>
      </p:sp>
      <p:pic>
        <p:nvPicPr>
          <p:cNvPr id="3" name="Picture 2" descr="image.png"/>
          <p:cNvPicPr>
            <a:picLocks noChangeAspect="1"/>
          </p:cNvPicPr>
          <p:nvPr/>
        </p:nvPicPr>
        <p:blipFill>
          <a:blip r:embed="rId2"/>
          <a:stretch>
            <a:fillRect/>
          </a:stretch>
        </p:blipFill>
        <p:spPr>
          <a:xfrm>
            <a:off x="2651759" y="1188720"/>
            <a:ext cx="6583680" cy="4937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02: Que atributos mirar en porteros?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heatmap de porteros se observa una estructura mucho más concentrada que en jugadores de campo. La variable OVERALL_RATING está fuertemente relacionada con casi todos los atributos específicos de arquero, en especial con GK_MEAN (0.98), GK_DIVING (0.91), GK_REFLEXES (0.90), GK_POSITIONING (0.89) y GK_HANDLING (0.88). Esto indica que el rendimiento general del portero está muy dominado por sus habilidades técnicas propias del puesto.</a:t>
            </a:r>
          </a:p>
          <a:p>
            <a:pPr>
              <a:spcAft>
                <a:spcPts val="1000"/>
              </a:spcAft>
            </a:pPr>
            <a:r>
              <a:rPr sz="1800">
                <a:solidFill>
                  <a:srgbClr val="1F2937"/>
                </a:solidFill>
                <a:latin typeface="Aptos"/>
              </a:rPr>
              <a:t>También se ven relaciones altas entre atributos internos del arco. Por ejemplo, GK_DIVING y GK_REFLEXES tienen una correlación de 0.89, mientras que GK_POSITIONING y GK_HANDLING alcanzan 0.83. Esto sugiere que varios indicadores del portero miden casi la misma calidad subyacente, por lo que existe bastante redundancia entre ellos.</a:t>
            </a:r>
          </a:p>
          <a:p>
            <a:pPr>
              <a:spcAft>
                <a:spcPts val="1000"/>
              </a:spcAft>
            </a:pPr>
            <a:r>
              <a:rPr sz="1800">
                <a:solidFill>
                  <a:srgbClr val="1F2937"/>
                </a:solidFill>
                <a:latin typeface="Aptos"/>
              </a:rPr>
              <a:t>En cambio, JUMPING muestra una relación bastante menor con el bloque principal de variables de arquero. Por ejemplo, su correlación con GK_MEAN es solo de 0.40. Esto sugiere que el salto aporta información complementaria, pero no explica tanto el nivel global del portero como las habilidades técnicas de atajada, colocación y reflejos.</a:t>
            </a:r>
          </a:p>
          <a:p>
            <a:pPr>
              <a:spcAft>
                <a:spcPts val="1000"/>
              </a:spcAft>
            </a:pPr>
            <a:r>
              <a:rPr sz="1800">
                <a:solidFill>
                  <a:srgbClr val="1F2937"/>
                </a:solidFill>
                <a:latin typeface="Aptos"/>
              </a:rPr>
              <a:t>En conjunto, este gráfico sugiere que para evaluar porteros se puede resumir gran parte del perfil usando pocas variables clave, porque muchas de las métricas del puesto se mueven casi juntas. A diferencia de los jugadores de campo, aquí la redundancia es más fuerte y el perfil parece estar más concentrado en un solo bloque de rendimiento especializado.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03: Cuanto margen tienen los campistas jovenes?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03: Cuanto margen tienen los campistas jovenes?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histograma de jugadores de campo se observa que la gran mayoría de los casos tiene un gap positivo entre POTENTIAL y OVERALL_RATING. Esto sugiere que, dentro de este grupo de jugadores jóvenes, lo normal es que todavía exista margen de desarrollo y que su nivel actual aún esté por debajo de su techo estimado.</a:t>
            </a:r>
          </a:p>
          <a:p>
            <a:pPr>
              <a:spcAft>
                <a:spcPts val="1000"/>
              </a:spcAft>
            </a:pPr>
            <a:r>
              <a:rPr sz="1800">
                <a:solidFill>
                  <a:srgbClr val="1F2937"/>
                </a:solidFill>
                <a:latin typeface="Aptos"/>
              </a:rPr>
              <a:t>La distribución se concentra sobre todo entre valores de gap de 7 a 11, con una mediana cercana a 8. Esto indica que, para muchos jugadores de campo jóvenes, el margen de crecimiento existe, pero no suele ser extremo. Los casos con gaps muy altos también aparecen, incluso llegando a valores cercanos a 22, pero claramente son menos frecuentes y pueden interpretarse como perfiles especialmente interesantes para scouting.</a:t>
            </a:r>
          </a:p>
          <a:p>
            <a:pPr>
              <a:spcAft>
                <a:spcPts val="1000"/>
              </a:spcAft>
            </a:pPr>
            <a:r>
              <a:rPr sz="1800">
                <a:solidFill>
                  <a:srgbClr val="1F2937"/>
                </a:solidFill>
                <a:latin typeface="Aptos"/>
              </a:rPr>
              <a:t>En conjunto, el gráfico sugiere que los jugadores de campo jóvenes suelen tener un margen de desarrollo moderado y relativamente estable. Por eso, al buscar prospectos, conviene prestar más atención a los casos que se alejan hacia la derecha de la distribución, ya que ahí es donde aparecen jugadores con un potencial mucho más alto que su rendimiento actual.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04: Cuanto margen tienen los porteros jovenes?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dirty="0">
                <a:solidFill>
                  <a:srgbClr val="2A9D8F"/>
                </a:solidFill>
                <a:latin typeface="Aptos"/>
              </a:rPr>
              <a:t>Lectura del </a:t>
            </a:r>
            <a:r>
              <a:rPr sz="2000" b="1" dirty="0" err="1">
                <a:solidFill>
                  <a:srgbClr val="2A9D8F"/>
                </a:solidFill>
                <a:latin typeface="Aptos"/>
              </a:rPr>
              <a:t>analisis</a:t>
            </a:r>
            <a:r>
              <a:rPr sz="2000" b="1" dirty="0">
                <a:solidFill>
                  <a:srgbClr val="2A9D8F"/>
                </a:solidFill>
                <a:latin typeface="Aptos"/>
              </a:rPr>
              <a:t> 04: </a:t>
            </a:r>
            <a:r>
              <a:rPr sz="2000" b="1" dirty="0" err="1">
                <a:solidFill>
                  <a:srgbClr val="2A9D8F"/>
                </a:solidFill>
                <a:latin typeface="Aptos"/>
              </a:rPr>
              <a:t>Cuanto</a:t>
            </a:r>
            <a:r>
              <a:rPr sz="2000" b="1" dirty="0">
                <a:solidFill>
                  <a:srgbClr val="2A9D8F"/>
                </a:solidFill>
                <a:latin typeface="Aptos"/>
              </a:rPr>
              <a:t> </a:t>
            </a:r>
            <a:r>
              <a:rPr sz="2000" b="1" dirty="0" err="1">
                <a:solidFill>
                  <a:srgbClr val="2A9D8F"/>
                </a:solidFill>
                <a:latin typeface="Aptos"/>
              </a:rPr>
              <a:t>margen</a:t>
            </a:r>
            <a:r>
              <a:rPr sz="2000" b="1" dirty="0">
                <a:solidFill>
                  <a:srgbClr val="2A9D8F"/>
                </a:solidFill>
                <a:latin typeface="Aptos"/>
              </a:rPr>
              <a:t> </a:t>
            </a:r>
            <a:r>
              <a:rPr sz="2000" b="1" dirty="0" err="1">
                <a:solidFill>
                  <a:srgbClr val="2A9D8F"/>
                </a:solidFill>
                <a:latin typeface="Aptos"/>
              </a:rPr>
              <a:t>tienen</a:t>
            </a:r>
            <a:r>
              <a:rPr sz="2000" b="1" dirty="0">
                <a:solidFill>
                  <a:srgbClr val="2A9D8F"/>
                </a:solidFill>
                <a:latin typeface="Aptos"/>
              </a:rPr>
              <a:t> </a:t>
            </a:r>
            <a:r>
              <a:rPr sz="2000" b="1" dirty="0" err="1">
                <a:solidFill>
                  <a:srgbClr val="2A9D8F"/>
                </a:solidFill>
                <a:latin typeface="Aptos"/>
              </a:rPr>
              <a:t>los</a:t>
            </a:r>
            <a:r>
              <a:rPr sz="2000" b="1" dirty="0">
                <a:solidFill>
                  <a:srgbClr val="2A9D8F"/>
                </a:solidFill>
                <a:latin typeface="Aptos"/>
              </a:rPr>
              <a:t> </a:t>
            </a:r>
            <a:r>
              <a:rPr sz="2000" b="1" dirty="0" err="1">
                <a:solidFill>
                  <a:srgbClr val="2A9D8F"/>
                </a:solidFill>
                <a:latin typeface="Aptos"/>
              </a:rPr>
              <a:t>porteros</a:t>
            </a:r>
            <a:r>
              <a:rPr sz="2000" b="1" dirty="0">
                <a:solidFill>
                  <a:srgbClr val="2A9D8F"/>
                </a:solidFill>
                <a:latin typeface="Aptos"/>
              </a:rPr>
              <a:t> </a:t>
            </a:r>
            <a:r>
              <a:rPr sz="2000" b="1" dirty="0" err="1">
                <a:solidFill>
                  <a:srgbClr val="2A9D8F"/>
                </a:solidFill>
                <a:latin typeface="Aptos"/>
              </a:rPr>
              <a:t>jovenes</a:t>
            </a:r>
            <a:r>
              <a:rPr sz="2000" b="1" dirty="0">
                <a:solidFill>
                  <a:srgbClr val="2A9D8F"/>
                </a:solidFill>
                <a:latin typeface="Aptos"/>
              </a:rPr>
              <a:t>?</a:t>
            </a:r>
          </a:p>
        </p:txBody>
      </p:sp>
      <p:sp>
        <p:nvSpPr>
          <p:cNvPr id="4" name="TextBox 1">
            <a:extLst>
              <a:ext uri="{FF2B5EF4-FFF2-40B4-BE49-F238E27FC236}">
                <a16:creationId xmlns:a16="http://schemas.microsoft.com/office/drawing/2014/main" id="{4A3FD4E4-9AD0-585B-A3AD-A1727E541715}"/>
              </a:ext>
            </a:extLst>
          </p:cNvPr>
          <p:cNvSpPr txBox="1"/>
          <p:nvPr/>
        </p:nvSpPr>
        <p:spPr>
          <a:xfrm>
            <a:off x="640080" y="838200"/>
            <a:ext cx="10058400" cy="400110"/>
          </a:xfrm>
          <a:prstGeom prst="rect">
            <a:avLst/>
          </a:prstGeom>
          <a:noFill/>
        </p:spPr>
        <p:txBody>
          <a:bodyPr wrap="square">
            <a:spAutoFit/>
          </a:bodyPr>
          <a:lstStyle/>
          <a:p>
            <a:pPr algn="l"/>
            <a:r>
              <a:rPr lang="es-MX" sz="2000" i="1" dirty="0">
                <a:solidFill>
                  <a:srgbClr val="2A9D8F"/>
                </a:solidFill>
                <a:latin typeface="Aptos"/>
              </a:rPr>
              <a:t>Qué problema se aborda en este análisis?</a:t>
            </a:r>
            <a:endParaRPr sz="2000" i="1" dirty="0">
              <a:solidFill>
                <a:srgbClr val="2A9D8F"/>
              </a:solidFill>
              <a:latin typeface="Aptos"/>
            </a:endParaRPr>
          </a:p>
        </p:txBody>
      </p:sp>
      <p:sp>
        <p:nvSpPr>
          <p:cNvPr id="5" name="TextBox 1">
            <a:extLst>
              <a:ext uri="{FF2B5EF4-FFF2-40B4-BE49-F238E27FC236}">
                <a16:creationId xmlns:a16="http://schemas.microsoft.com/office/drawing/2014/main" id="{DE71B22F-ED2D-1962-E0B6-4493BF879224}"/>
              </a:ext>
            </a:extLst>
          </p:cNvPr>
          <p:cNvSpPr txBox="1"/>
          <p:nvPr/>
        </p:nvSpPr>
        <p:spPr>
          <a:xfrm>
            <a:off x="640080" y="1256598"/>
            <a:ext cx="10058400" cy="1015663"/>
          </a:xfrm>
          <a:prstGeom prst="rect">
            <a:avLst/>
          </a:prstGeom>
          <a:noFill/>
        </p:spPr>
        <p:txBody>
          <a:bodyPr wrap="square">
            <a:spAutoFit/>
          </a:bodyPr>
          <a:lstStyle/>
          <a:p>
            <a:r>
              <a:rPr lang="es-MX" sz="2000" dirty="0"/>
              <a:t>Evaluar el talento y el techo de los porteros jóvenes (18-23 años) es uno de los mayores retos en el mercado, ya que su curva de maduración suele diferir de la del resto del equipo. Asumir riesgos financieros basándose solo en la intuición puede resultar en inversiones estancadas.</a:t>
            </a:r>
            <a:endParaRPr sz="2000" b="1" dirty="0">
              <a:solidFill>
                <a:srgbClr val="2A9D8F"/>
              </a:solidFill>
              <a:latin typeface="Aptos"/>
            </a:endParaRPr>
          </a:p>
        </p:txBody>
      </p:sp>
      <p:sp>
        <p:nvSpPr>
          <p:cNvPr id="6" name="TextBox 1">
            <a:extLst>
              <a:ext uri="{FF2B5EF4-FFF2-40B4-BE49-F238E27FC236}">
                <a16:creationId xmlns:a16="http://schemas.microsoft.com/office/drawing/2014/main" id="{3ED3CD44-873D-696B-2AF9-8639CB966EEF}"/>
              </a:ext>
            </a:extLst>
          </p:cNvPr>
          <p:cNvSpPr txBox="1"/>
          <p:nvPr/>
        </p:nvSpPr>
        <p:spPr>
          <a:xfrm>
            <a:off x="640080" y="2179320"/>
            <a:ext cx="10058400" cy="400110"/>
          </a:xfrm>
          <a:prstGeom prst="rect">
            <a:avLst/>
          </a:prstGeom>
          <a:noFill/>
        </p:spPr>
        <p:txBody>
          <a:bodyPr wrap="square">
            <a:spAutoFit/>
          </a:bodyPr>
          <a:lstStyle/>
          <a:p>
            <a:pPr algn="l"/>
            <a:r>
              <a:rPr lang="es-MX" sz="2000" i="1" dirty="0">
                <a:solidFill>
                  <a:srgbClr val="2A9D8F"/>
                </a:solidFill>
                <a:latin typeface="Aptos"/>
              </a:rPr>
              <a:t>Qué solución se presenta? </a:t>
            </a:r>
            <a:endParaRPr sz="2000" i="1" dirty="0">
              <a:solidFill>
                <a:srgbClr val="2A9D8F"/>
              </a:solidFill>
              <a:latin typeface="Aptos"/>
            </a:endParaRPr>
          </a:p>
        </p:txBody>
      </p:sp>
      <p:sp>
        <p:nvSpPr>
          <p:cNvPr id="8" name="TextBox 1">
            <a:extLst>
              <a:ext uri="{FF2B5EF4-FFF2-40B4-BE49-F238E27FC236}">
                <a16:creationId xmlns:a16="http://schemas.microsoft.com/office/drawing/2014/main" id="{18163B52-DA9B-1047-21AA-FD22A2EC6841}"/>
              </a:ext>
            </a:extLst>
          </p:cNvPr>
          <p:cNvSpPr txBox="1"/>
          <p:nvPr/>
        </p:nvSpPr>
        <p:spPr>
          <a:xfrm>
            <a:off x="640080" y="2568577"/>
            <a:ext cx="10058400" cy="1631216"/>
          </a:xfrm>
          <a:prstGeom prst="rect">
            <a:avLst/>
          </a:prstGeom>
          <a:noFill/>
        </p:spPr>
        <p:txBody>
          <a:bodyPr wrap="square">
            <a:spAutoFit/>
          </a:bodyPr>
          <a:lstStyle/>
          <a:p>
            <a:r>
              <a:rPr lang="es-MX" sz="2000" dirty="0"/>
              <a:t>Este análisis se basa exclusivamente en un conjunto de datos de </a:t>
            </a:r>
            <a:r>
              <a:rPr lang="es-MX" sz="2000" b="1" dirty="0"/>
              <a:t>ligas de primera división europea</a:t>
            </a:r>
            <a:r>
              <a:rPr lang="es-MX" sz="2000" dirty="0"/>
              <a:t>. En base al histograma, podemos observar que el margen de crecimiento (gap) de los arqueros jóvenes incluidos en este </a:t>
            </a:r>
            <a:r>
              <a:rPr lang="es-MX" sz="2000" dirty="0" err="1"/>
              <a:t>dataset</a:t>
            </a:r>
            <a:r>
              <a:rPr lang="es-MX" sz="2000" dirty="0"/>
              <a:t> tiende a concentrarse principalmente entre los 7 y 12 puntos, con una mediana cercana a 9. Este comportamiento observado en la muestra define nuestro estándar de mercado para la posición.</a:t>
            </a:r>
            <a:endParaRPr sz="2000" b="1" dirty="0">
              <a:solidFill>
                <a:srgbClr val="2A9D8F"/>
              </a:solidFill>
              <a:latin typeface="Aptos"/>
            </a:endParaRPr>
          </a:p>
        </p:txBody>
      </p:sp>
      <p:sp>
        <p:nvSpPr>
          <p:cNvPr id="9" name="TextBox 1">
            <a:extLst>
              <a:ext uri="{FF2B5EF4-FFF2-40B4-BE49-F238E27FC236}">
                <a16:creationId xmlns:a16="http://schemas.microsoft.com/office/drawing/2014/main" id="{86427C0D-CA46-67CF-72EE-791D14DF02A0}"/>
              </a:ext>
            </a:extLst>
          </p:cNvPr>
          <p:cNvSpPr txBox="1"/>
          <p:nvPr/>
        </p:nvSpPr>
        <p:spPr>
          <a:xfrm>
            <a:off x="585216" y="4185630"/>
            <a:ext cx="10058400" cy="400110"/>
          </a:xfrm>
          <a:prstGeom prst="rect">
            <a:avLst/>
          </a:prstGeom>
          <a:noFill/>
        </p:spPr>
        <p:txBody>
          <a:bodyPr wrap="square">
            <a:spAutoFit/>
          </a:bodyPr>
          <a:lstStyle/>
          <a:p>
            <a:pPr algn="l"/>
            <a:r>
              <a:rPr lang="es-MX" sz="2000" i="1" dirty="0">
                <a:solidFill>
                  <a:srgbClr val="2A9D8F"/>
                </a:solidFill>
                <a:latin typeface="Aptos"/>
              </a:rPr>
              <a:t>Qué implicaciones tiene para el negocio?</a:t>
            </a:r>
            <a:endParaRPr sz="2000" i="1" dirty="0">
              <a:solidFill>
                <a:srgbClr val="2A9D8F"/>
              </a:solidFill>
              <a:latin typeface="Aptos"/>
            </a:endParaRPr>
          </a:p>
        </p:txBody>
      </p:sp>
      <p:sp>
        <p:nvSpPr>
          <p:cNvPr id="10" name="TextBox 1">
            <a:extLst>
              <a:ext uri="{FF2B5EF4-FFF2-40B4-BE49-F238E27FC236}">
                <a16:creationId xmlns:a16="http://schemas.microsoft.com/office/drawing/2014/main" id="{87F90E5F-7A09-DA8E-FF4C-C153993DAC92}"/>
              </a:ext>
            </a:extLst>
          </p:cNvPr>
          <p:cNvSpPr txBox="1"/>
          <p:nvPr/>
        </p:nvSpPr>
        <p:spPr>
          <a:xfrm>
            <a:off x="640080" y="4556789"/>
            <a:ext cx="10058400" cy="1323439"/>
          </a:xfrm>
          <a:prstGeom prst="rect">
            <a:avLst/>
          </a:prstGeom>
          <a:noFill/>
        </p:spPr>
        <p:txBody>
          <a:bodyPr wrap="square">
            <a:spAutoFit/>
          </a:bodyPr>
          <a:lstStyle/>
          <a:p>
            <a:r>
              <a:rPr lang="es-MX" sz="2000" dirty="0"/>
              <a:t>El departamento de </a:t>
            </a:r>
            <a:r>
              <a:rPr lang="es-MX" sz="2000" i="1" dirty="0" err="1"/>
              <a:t>scouting</a:t>
            </a:r>
            <a:r>
              <a:rPr lang="es-MX" sz="2000" dirty="0"/>
              <a:t> debe enfocar sus recursos en la "cola derecha" de la distribución. Estos casos atípicos representan arqueros que combinan un nivel actual todavía contenido con un techo estimado mucho más alto. Identificarlos permite adquirir prospectos prometedores a un costo de transferencia inicial bajo, maximizando la plusvalía a largo plazo.</a:t>
            </a:r>
            <a:endParaRPr sz="2000" b="1" dirty="0">
              <a:solidFill>
                <a:srgbClr val="2A9D8F"/>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05: Que distingue a los jovenes con alto potencial?</a:t>
            </a:r>
          </a:p>
        </p:txBody>
      </p:sp>
      <p:pic>
        <p:nvPicPr>
          <p:cNvPr id="3" name="Picture 2" descr="image.png"/>
          <p:cNvPicPr>
            <a:picLocks noChangeAspect="1"/>
          </p:cNvPicPr>
          <p:nvPr/>
        </p:nvPicPr>
        <p:blipFill>
          <a:blip r:embed="rId2"/>
          <a:stretch>
            <a:fillRect/>
          </a:stretch>
        </p:blipFill>
        <p:spPr>
          <a:xfrm>
            <a:off x="2416628" y="1188720"/>
            <a:ext cx="7053942" cy="4937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05: Que distingue a los jovenes con alto potencial?</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este gráfico se observa que los jugadores jóvenes de alto potencial no se diferencian tanto por atributos defensivos o físicos puros, sino sobre todo por rasgos técnicos y ofensivos. Los atributos que más sobresalen son DRIBBLING, CURVE, BALL_CONTROL, LONG_SHOTS, POSITIONING y VISION, lo que sugiere que el techo de desarrollo suele estar más asociado con calidad técnica y capacidad ofensiva que con fuerza o juego defensivo.</a:t>
            </a:r>
          </a:p>
          <a:p>
            <a:pPr>
              <a:spcAft>
                <a:spcPts val="1000"/>
              </a:spcAft>
            </a:pPr>
            <a:r>
              <a:rPr sz="1800">
                <a:solidFill>
                  <a:srgbClr val="1F2937"/>
                </a:solidFill>
                <a:latin typeface="Aptos"/>
              </a:rPr>
              <a:t>También destaca que SHORT_PASSING, CROSSING, SHOT_POWER y REACTIONS aparecen entre las diferencias más altas. Esto sugiere que los jugadores más prometedores no solo tienen habilidad individual, sino también mejores recursos para participar en la circulación del balón y resolver jugadas con más calidad.</a:t>
            </a:r>
          </a:p>
          <a:p>
            <a:pPr>
              <a:spcAft>
                <a:spcPts val="1000"/>
              </a:spcAft>
            </a:pPr>
            <a:r>
              <a:rPr sz="1800">
                <a:solidFill>
                  <a:srgbClr val="1F2937"/>
                </a:solidFill>
                <a:latin typeface="Aptos"/>
              </a:rPr>
              <a:t>En conjunto, el gráfico sugiere que, al buscar talento joven con margen de crecimiento, conviene priorizar perfiles con buena técnica ofensiva, control de balón y lectura de juego. De todos modos, este resultado debe interpretarse como una asociación y no como causalidad, ya que tener estos atributos no garantiza por sí solo que un jugador alcance su potencial.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06: Que tan cerrados son los partidos?</a:t>
            </a:r>
          </a:p>
        </p:txBody>
      </p:sp>
      <p:pic>
        <p:nvPicPr>
          <p:cNvPr id="3" name="Picture 2" descr="image.png"/>
          <p:cNvPicPr>
            <a:picLocks noChangeAspect="1"/>
          </p:cNvPicPr>
          <p:nvPr/>
        </p:nvPicPr>
        <p:blipFill>
          <a:blip r:embed="rId2"/>
          <a:stretch>
            <a:fillRect/>
          </a:stretch>
        </p:blipFill>
        <p:spPr>
          <a:xfrm>
            <a:off x="2548889" y="1188720"/>
            <a:ext cx="6789420" cy="4937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06: Que tan cerrados son los partidos?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gráfico de anillo se observa que la categoría más frecuente es la de partidos Cerrados, es decir, aquellos definidos por 1 gol de diferencia, con 9,598 partidos, equivalentes a aproximadamente 37.0% del total. Además, si se suman los Empates y los partidos Cerrados, se obtiene alrededor de 62.3% de todos los encuentros. Esto indica que la mayor parte de los partidos del dataset se mueve en márgenes pequeños y competitivos.</a:t>
            </a:r>
          </a:p>
          <a:p>
            <a:pPr>
              <a:spcAft>
                <a:spcPts val="1000"/>
              </a:spcAft>
            </a:pPr>
            <a:r>
              <a:rPr sz="1800">
                <a:solidFill>
                  <a:srgbClr val="1F2937"/>
                </a:solidFill>
                <a:latin typeface="Aptos"/>
              </a:rPr>
              <a:t>Por otro lado, los partidos Moderados, definidos por 2 goles de diferencia, representan cerca de 22.1%, mientras que los partidos Amplios, con 3 o más goles de diferencia, son los menos frecuentes con aproximadamente 15.6%. Esto sugiere que los resultados abultados existen, pero son claramente menos comunes que los partidos ajustados.</a:t>
            </a:r>
          </a:p>
          <a:p>
            <a:pPr>
              <a:spcAft>
                <a:spcPts val="1000"/>
              </a:spcAft>
            </a:pPr>
            <a:r>
              <a:rPr sz="1800">
                <a:solidFill>
                  <a:srgbClr val="1F2937"/>
                </a:solidFill>
                <a:latin typeface="Aptos"/>
              </a:rPr>
              <a:t>En conjunto, el gráfico respalda la idea de que la mayoría de los partidos suelen ser cerrados. Desde una perspectiva de análisis deportivo, esto sugiere que pequeñas diferencias de rendimiento, decisiones tácticas o momentos puntuales del juego pueden tener un impacto grande en el resultado final, porque los márgenes amplios no son la norma sino la excepción.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07: En que destacan las altas promesas?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07: En que destacan las altas promesas?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El boxplot muestra que el grupo de Alta Promesa (Top 10%) presenta distribuciones más altas que el grupo de Resto de Jóvenes en los seis atributos evaluados. Esto se nota porque, en todos los casos, la mediana de las altas promesas queda por encima de la mediana del resto, lo que indica una ventaja consistente y no aislada en un solo atributo.</a:t>
            </a:r>
          </a:p>
          <a:p>
            <a:pPr>
              <a:spcAft>
                <a:spcPts val="1000"/>
              </a:spcAft>
            </a:pPr>
            <a:r>
              <a:rPr sz="1800">
                <a:solidFill>
                  <a:srgbClr val="1F2937"/>
                </a:solidFill>
                <a:latin typeface="Aptos"/>
              </a:rPr>
              <a:t>Las diferencias más marcadas aparecen en atributos como Visión, Control de Balón, Reacciones y Pase Corto. Esto sugiere que los jugadores jóvenes con mayor potencial no solo destacan por condiciones físicas, sino también por atributos técnicos y de lectura del juego. En Velocidad Sprint y Resistencia también se observa una ventaja para las altas promesas, aunque la separación entre grupos parece algo menor.</a:t>
            </a:r>
          </a:p>
          <a:p>
            <a:pPr>
              <a:spcAft>
                <a:spcPts val="1000"/>
              </a:spcAft>
            </a:pPr>
            <a:r>
              <a:rPr sz="1800">
                <a:solidFill>
                  <a:srgbClr val="1F2937"/>
                </a:solidFill>
                <a:latin typeface="Aptos"/>
              </a:rPr>
              <a:t>En conjunto, la gráfica sugiere que el potencial alto en jugadores jóvenes está asociado a un perfil más completo y balanceado. Es decir, las altas promesas no sobresalen solo en un atributo puntual, sino que tienden a mantener niveles superiores en varias dimensiones importantes del rendimiento.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08: A que edad rinden mejor los jugadores?</a:t>
            </a:r>
          </a:p>
        </p:txBody>
      </p:sp>
      <p:pic>
        <p:nvPicPr>
          <p:cNvPr id="3" name="Picture 2" descr="image.png"/>
          <p:cNvPicPr>
            <a:picLocks noChangeAspect="1"/>
          </p:cNvPicPr>
          <p:nvPr/>
        </p:nvPicPr>
        <p:blipFill>
          <a:blip r:embed="rId2"/>
          <a:stretch>
            <a:fillRect/>
          </a:stretch>
        </p:blipFill>
        <p:spPr>
          <a:xfrm>
            <a:off x="1828800" y="1188720"/>
            <a:ext cx="8229600" cy="49377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08: A que edad rinden mejor los jugadores?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Al observar la curva de tendencia en este gráfico de líneas, podemos identificar con claridad las tres etapas biológicas y deportivas que definen la carrera de un futbolista profesional:</a:t>
            </a:r>
          </a:p>
          <a:p>
            <a:pPr>
              <a:spcAft>
                <a:spcPts val="1000"/>
              </a:spcAft>
            </a:pPr>
            <a:r>
              <a:rPr sz="1800">
                <a:solidFill>
                  <a:srgbClr val="1F2937"/>
                </a:solidFill>
                <a:latin typeface="Aptos"/>
              </a:rPr>
              <a:t>- Fase de crecimiento: desde las edades más tempranas (16-18 años), la línea muestra una pendiente ascendente constante y pronunciada. Es en esta etapa donde los jugadores adquieren madurez táctica, experiencia y desarrollo físico.</a:t>
            </a:r>
            <a:br/>
            <a:r>
              <a:rPr sz="1800">
                <a:solidFill>
                  <a:srgbClr val="1F2937"/>
                </a:solidFill>
                <a:latin typeface="Aptos"/>
              </a:rPr>
              <a:t>- El "prime" o pico de rendimiento: la curva alcanza su punto más alto y forma una "meseta" típica entre los 27 y los 31 años. Es en esta franja donde el jugador encuentra el balance perfecto: combina su máxima experiencia futbolística con un físico aún en óptimas condiciones.</a:t>
            </a:r>
            <a:br/>
            <a:r>
              <a:rPr sz="1800">
                <a:solidFill>
                  <a:srgbClr val="1F2937"/>
                </a:solidFill>
                <a:latin typeface="Aptos"/>
              </a:rPr>
              <a:t>- Fase de declive: a partir de los 32 años, la línea comienza un descenso evidente, reflejando la pérdida natural de capacidades físicas, como velocidad, explosividad o resistencia, que termina por afectar la valoración general.</a:t>
            </a:r>
          </a:p>
          <a:p>
            <a:pPr>
              <a:spcAft>
                <a:spcPts val="1000"/>
              </a:spcAft>
            </a:pPr>
            <a:r>
              <a:rPr sz="1800">
                <a:solidFill>
                  <a:srgbClr val="1F2937"/>
                </a:solidFill>
                <a:latin typeface="Aptos"/>
              </a:rPr>
              <a:t>Este gráfico dicta la lógica financiera y deportiva para armar una plantilla equilibrada. Si el equipo busca éxito inmediato para competir por un campeonato, debe apostar por jugadores en su "prime" (27-30 años), sabiendo que su costo será el más elevado. En cambio, si la directiva busca construir un proyecto a mediano plazo y generar plusvalía, la inversión debe ir hacia la fase de crecimiento (20-23 años), adquiriendo talento cuyo rendimiento y valor de mercado estadísticamente irán al alza.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09: Que formaciones equilibran uso y rendimiento?</a:t>
            </a:r>
          </a:p>
        </p:txBody>
      </p:sp>
      <p:pic>
        <p:nvPicPr>
          <p:cNvPr id="3" name="Picture 2" descr="image.png"/>
          <p:cNvPicPr>
            <a:picLocks noChangeAspect="1"/>
          </p:cNvPicPr>
          <p:nvPr/>
        </p:nvPicPr>
        <p:blipFill>
          <a:blip r:embed="rId2"/>
          <a:stretch>
            <a:fillRect/>
          </a:stretch>
        </p:blipFill>
        <p:spPr>
          <a:xfrm>
            <a:off x="2063931" y="1188720"/>
            <a:ext cx="7759337" cy="49377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09: Que formaciones equilibran uso y rendimiento?</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El bubble plot sugiere que no todas las formaciones combinan del mismo modo frecuencia de uso y rendimiento. En la zona superior derecha, donde coinciden más puntos por partido y una diferencia de gol promedio menos negativa o incluso positiva, aparecen esquemas como 4-3-3, 4-4-2 y 4-2-3-1. Entre ellas, 4-2-3-1 destaca especialmente porque combina un rendimiento competitivo con una burbuja grande, es decir, con una muestra amplia de partidos, lo que hace más confiable la señal.</a:t>
            </a:r>
          </a:p>
          <a:p>
            <a:pPr>
              <a:spcAft>
                <a:spcPts val="1000"/>
              </a:spcAft>
            </a:pPr>
            <a:r>
              <a:rPr sz="1800">
                <a:solidFill>
                  <a:srgbClr val="1F2937"/>
                </a:solidFill>
                <a:latin typeface="Aptos"/>
              </a:rPr>
              <a:t>También aparecen algunas formaciones con buen desempeño, pero con menor respaldo de muestra, como 3-5-2 y otras variantes cercanas al bloque superior. Esto sugiere que pueden ser opciones interesantes, pero conviene ser más prudente al interpretarlas, ya que una menor frecuencia de uso hace más difícil separar un patrón estable de un resultado puntual.</a:t>
            </a:r>
          </a:p>
          <a:p>
            <a:pPr>
              <a:spcAft>
                <a:spcPts val="1000"/>
              </a:spcAft>
            </a:pPr>
            <a:r>
              <a:rPr sz="1800">
                <a:solidFill>
                  <a:srgbClr val="1F2937"/>
                </a:solidFill>
                <a:latin typeface="Aptos"/>
              </a:rPr>
              <a:t>En el extremo opuesto, 5-3-2, 4-5-1 y 4-1-4-1 se ubican en la zona de peor balance, con menos puntos por partido y una diferencia de gol promedio más negativa. En conjunto, la gráfica sugiere que no basta con mirar qué formación se usa más: conviene priorizar esquemas que mantengan un equilibrio entre frecuencia y resultados, y en ese sentido 4-2-3-1 y 4-4-2 parecen alternativas más sólidas que otras formaciones menos consistentes.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10: Que formaciones son mas seguras o mas riesgosas?</a:t>
            </a:r>
          </a:p>
        </p:txBody>
      </p:sp>
      <p:pic>
        <p:nvPicPr>
          <p:cNvPr id="3" name="Picture 2" descr="image.png"/>
          <p:cNvPicPr>
            <a:picLocks noChangeAspect="1"/>
          </p:cNvPicPr>
          <p:nvPr/>
        </p:nvPicPr>
        <p:blipFill>
          <a:blip r:embed="rId2"/>
          <a:stretch>
            <a:fillRect/>
          </a:stretch>
        </p:blipFill>
        <p:spPr>
          <a:xfrm>
            <a:off x="1711234" y="1188720"/>
            <a:ext cx="8464731" cy="49377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10: Que formaciones son mas seguras o mas riesgosas?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Al ver los resultados, se nota que no todas las formaciones se comportan igual en la cancha. Hay algunas que son más confiables: no siempre ganan, pero pierden poco y te mantienen compitiendo partido a partido, lo cual es clave en torneos largos. Otras son más arriesgadas: te pueden dar muchas victorias, pero también más derrotas, como si el equipo jugara al límite; estas pueden ser útiles cuando necesitas ir por todo, por ejemplo en partidos decisivos.</a:t>
            </a:r>
          </a:p>
          <a:p>
            <a:pPr>
              <a:spcAft>
                <a:spcPts val="1000"/>
              </a:spcAft>
            </a:pPr>
            <a:r>
              <a:rPr sz="1800">
                <a:solidFill>
                  <a:srgbClr val="1F2937"/>
                </a:solidFill>
                <a:latin typeface="Aptos"/>
              </a:rPr>
              <a:t>También están las formaciones más conservadoras, que tienden a empatar mucho: no arriesgan demasiado, pero tampoco marcan tanta diferencia. Para un entrenador, esto se traduce en elegir la formación no solo por estilo, sino por el momento: usar esquemas más sólidos cuando buscas regularidad y control, y formaciones más agresivas cuando necesitas ganar sí o sí, aunque implique asumir más riesgo.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4572000" cy="548640"/>
          </a:xfrm>
          <a:prstGeom prst="rect">
            <a:avLst/>
          </a:prstGeom>
          <a:noFill/>
        </p:spPr>
        <p:txBody>
          <a:bodyPr wrap="square">
            <a:spAutoFit/>
          </a:bodyPr>
          <a:lstStyle/>
          <a:p>
            <a:pPr algn="l"/>
            <a:r>
              <a:rPr sz="2400" b="1">
                <a:solidFill>
                  <a:srgbClr val="1D4E89"/>
                </a:solidFill>
                <a:latin typeface="Aptos"/>
              </a:rPr>
              <a:t>Integrantes</a:t>
            </a:r>
          </a:p>
        </p:txBody>
      </p:sp>
      <p:sp>
        <p:nvSpPr>
          <p:cNvPr id="3" name="TextBox 2"/>
          <p:cNvSpPr txBox="1"/>
          <p:nvPr/>
        </p:nvSpPr>
        <p:spPr>
          <a:xfrm>
            <a:off x="914400" y="2286000"/>
            <a:ext cx="4572000" cy="2743200"/>
          </a:xfrm>
          <a:prstGeom prst="rect">
            <a:avLst/>
          </a:prstGeom>
          <a:noFill/>
        </p:spPr>
        <p:txBody>
          <a:bodyPr wrap="square">
            <a:spAutoFit/>
          </a:bodyPr>
          <a:lstStyle/>
          <a:p>
            <a:pPr>
              <a:spcAft>
                <a:spcPts val="1000"/>
              </a:spcAft>
            </a:pPr>
            <a:r>
              <a:rPr sz="2000">
                <a:solidFill>
                  <a:srgbClr val="1F2937"/>
                </a:solidFill>
                <a:latin typeface="Aptos"/>
              </a:rPr>
              <a:t>Ossian Ramirez</a:t>
            </a:r>
          </a:p>
          <a:p>
            <a:pPr>
              <a:spcAft>
                <a:spcPts val="1000"/>
              </a:spcAft>
            </a:pPr>
            <a:r>
              <a:rPr sz="2000">
                <a:solidFill>
                  <a:srgbClr val="1F2937"/>
                </a:solidFill>
                <a:latin typeface="Aptos"/>
              </a:rPr>
              <a:t>Estefania Elizabeth</a:t>
            </a:r>
          </a:p>
          <a:p>
            <a:pPr>
              <a:spcAft>
                <a:spcPts val="1000"/>
              </a:spcAft>
            </a:pPr>
            <a:r>
              <a:rPr sz="2000">
                <a:solidFill>
                  <a:srgbClr val="1F2937"/>
                </a:solidFill>
                <a:latin typeface="Aptos"/>
              </a:rPr>
              <a:t>Ian Pascual</a:t>
            </a:r>
          </a:p>
          <a:p>
            <a:pPr>
              <a:spcAft>
                <a:spcPts val="1000"/>
              </a:spcAft>
            </a:pPr>
            <a:r>
              <a:rPr sz="2000">
                <a:solidFill>
                  <a:srgbClr val="1F2937"/>
                </a:solidFill>
                <a:latin typeface="Aptos"/>
              </a:rPr>
              <a:t>Karim Jacob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2406</Words>
  <Application>Microsoft Office PowerPoint</Application>
  <PresentationFormat>Personalizado</PresentationFormat>
  <Paragraphs>61</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karimjacob perez</cp:lastModifiedBy>
  <cp:revision>2</cp:revision>
  <dcterms:created xsi:type="dcterms:W3CDTF">2013-01-27T09:14:16Z</dcterms:created>
  <dcterms:modified xsi:type="dcterms:W3CDTF">2026-05-23T05:53:49Z</dcterms:modified>
  <cp:category/>
</cp:coreProperties>
</file>