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1280160"/>
            <a:ext cx="9601200" cy="914400"/>
          </a:xfrm>
          <a:prstGeom prst="rect">
            <a:avLst/>
          </a:prstGeom>
          <a:noFill/>
        </p:spPr>
        <p:txBody>
          <a:bodyPr wrap="square">
            <a:spAutoFit/>
          </a:bodyPr>
          <a:lstStyle/>
          <a:p>
            <a:pPr algn="l"/>
            <a:r>
              <a:rPr sz="3000" b="1">
                <a:solidFill>
                  <a:srgbClr val="1D4E89"/>
                </a:solidFill>
                <a:latin typeface="Aptos"/>
              </a:rPr>
              <a:t>Análisis de datos para decisiones futbolisticas</a:t>
            </a:r>
          </a:p>
        </p:txBody>
      </p:sp>
      <p:sp>
        <p:nvSpPr>
          <p:cNvPr id="3" name="TextBox 2"/>
          <p:cNvSpPr txBox="1"/>
          <p:nvPr/>
        </p:nvSpPr>
        <p:spPr>
          <a:xfrm>
            <a:off x="822960" y="1828800"/>
            <a:ext cx="9601200" cy="914400"/>
          </a:xfrm>
          <a:prstGeom prst="rect">
            <a:avLst/>
          </a:prstGeom>
          <a:noFill/>
        </p:spPr>
        <p:txBody>
          <a:bodyPr wrap="square">
            <a:spAutoFit/>
          </a:bodyPr>
          <a:lstStyle/>
          <a:p>
            <a:pPr algn="l"/>
            <a:r>
              <a:rPr sz="1800" b="0">
                <a:solidFill>
                  <a:srgbClr val="8D99AE"/>
                </a:solidFill>
                <a:latin typeface="Aptos"/>
              </a:rPr>
              <a:t>Scouting, perfiles de jugador, valor competitivo y apoyo a decisiones tácticas</a:t>
            </a:r>
          </a:p>
        </p:txBody>
      </p:sp>
      <p:sp>
        <p:nvSpPr>
          <p:cNvPr id="4" name="TextBox 3"/>
          <p:cNvSpPr txBox="1"/>
          <p:nvPr/>
        </p:nvSpPr>
        <p:spPr>
          <a:xfrm>
            <a:off x="822960" y="3931920"/>
            <a:ext cx="9601200" cy="914400"/>
          </a:xfrm>
          <a:prstGeom prst="rect">
            <a:avLst/>
          </a:prstGeom>
          <a:noFill/>
        </p:spPr>
        <p:txBody>
          <a:bodyPr wrap="square">
            <a:spAutoFit/>
          </a:bodyPr>
          <a:lstStyle/>
          <a:p>
            <a:pPr algn="l"/>
            <a:r>
              <a:rPr sz="2200" b="0">
                <a:solidFill>
                  <a:srgbClr val="1F2937"/>
                </a:solidFill>
                <a:latin typeface="Aptos"/>
              </a:rPr>
              <a:t>Presentación con gráficas e interpretaciones del análisis.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457200"/>
            <a:ext cx="9601200" cy="914400"/>
          </a:xfrm>
          <a:prstGeom prst="rect">
            <a:avLst/>
          </a:prstGeom>
          <a:noFill/>
        </p:spPr>
        <p:txBody>
          <a:bodyPr wrap="square">
            <a:spAutoFit/>
          </a:bodyPr>
          <a:lstStyle/>
          <a:p>
            <a:pPr algn="l"/>
            <a:r>
              <a:rPr sz="2600" b="1">
                <a:solidFill>
                  <a:srgbClr val="1D4E89"/>
                </a:solidFill>
                <a:latin typeface="Aptos"/>
              </a:rPr>
              <a:t>Entendiendo la base de datos.</a:t>
            </a:r>
          </a:p>
        </p:txBody>
      </p:sp>
      <p:sp>
        <p:nvSpPr>
          <p:cNvPr id="3" name="TextBox 2"/>
          <p:cNvSpPr txBox="1"/>
          <p:nvPr/>
        </p:nvSpPr>
        <p:spPr>
          <a:xfrm>
            <a:off x="822960" y="1005840"/>
            <a:ext cx="9601200" cy="914400"/>
          </a:xfrm>
          <a:prstGeom prst="rect">
            <a:avLst/>
          </a:prstGeom>
          <a:noFill/>
        </p:spPr>
        <p:txBody>
          <a:bodyPr wrap="square">
            <a:spAutoFit/>
          </a:bodyPr>
          <a:lstStyle/>
          <a:p>
            <a:pPr algn="l"/>
            <a:r>
              <a:rPr sz="1800" b="0">
                <a:solidFill>
                  <a:srgbClr val="8D99AE"/>
                </a:solidFill>
                <a:latin typeface="Aptos"/>
              </a:rPr>
              <a:t>¿De dónde se obtuvo?, ¿Qué contiene?, ¿Cuáles son sus limitaciones?</a:t>
            </a:r>
          </a:p>
        </p:txBody>
      </p:sp>
      <p:sp>
        <p:nvSpPr>
          <p:cNvPr id="4" name="TextBox 3"/>
          <p:cNvSpPr txBox="1"/>
          <p:nvPr/>
        </p:nvSpPr>
        <p:spPr>
          <a:xfrm>
            <a:off x="822960" y="1554480"/>
            <a:ext cx="9601200" cy="3657600"/>
          </a:xfrm>
          <a:prstGeom prst="rect">
            <a:avLst/>
          </a:prstGeom>
          <a:noFill/>
        </p:spPr>
        <p:txBody>
          <a:bodyPr wrap="square">
            <a:spAutoFit/>
          </a:bodyPr>
          <a:lstStyle/>
          <a:p>
            <a:pPr>
              <a:spcAft>
                <a:spcPts val="1000"/>
              </a:spcAft>
            </a:pPr>
            <a:r>
              <a:rPr sz="1800">
                <a:solidFill>
                  <a:srgbClr val="1F2937"/>
                </a:solidFill>
                <a:latin typeface="Aptos"/>
              </a:rPr>
              <a:t>La base de datos que utilizamos fue obtenida de Kaggle; su nombre, 'European Soccer Database'; el link del dataset es https://www.kaggle.com/datasets/hugomathien/soccer.</a:t>
            </a:r>
            <a:br/>
            <a:r>
              <a:rPr sz="1800">
                <a:solidFill>
                  <a:srgbClr val="1F2937"/>
                </a:solidFill>
                <a:latin typeface="Aptos"/>
              </a:rPr>
              <a:t>        </a:t>
            </a:r>
            <a:br/>
            <a:r>
              <a:rPr sz="1800">
                <a:solidFill>
                  <a:srgbClr val="1F2937"/>
                </a:solidFill>
                <a:latin typeface="Aptos"/>
              </a:rPr>
              <a:t>La base esta almacenada en un archivo .sqlite. Esta contiene información de partidos, jugadores, equipos y momios de partidos de equipos de primera división de ligas europeas. La información no es actual, esta data de registros del 2007 hasta registros del 2016.</a:t>
            </a:r>
          </a:p>
          <a:p>
            <a:pPr>
              <a:spcAft>
                <a:spcPts val="1000"/>
              </a:spcAft>
            </a:pPr>
            <a:r>
              <a:rPr sz="1800">
                <a:solidFill>
                  <a:srgbClr val="1F2937"/>
                </a:solidFill>
                <a:latin typeface="Aptos"/>
              </a:rPr>
              <a:t>La base de datos tiene en total las siguiente siete tablas:</a:t>
            </a:r>
          </a:p>
          <a:p>
            <a:pPr>
              <a:spcAft>
                <a:spcPts val="1000"/>
              </a:spcAft>
            </a:pPr>
            <a:r>
              <a:rPr sz="1800">
                <a:solidFill>
                  <a:srgbClr val="1F2937"/>
                </a:solidFill>
                <a:latin typeface="Aptos"/>
              </a:rPr>
              <a:t>- Player: Información básica de jugadores: nombre, fecha de nacimiento, altura, peso.</a:t>
            </a:r>
            <a:br/>
            <a:r>
              <a:rPr sz="1800">
                <a:solidFill>
                  <a:srgbClr val="1F2937"/>
                </a:solidFill>
                <a:latin typeface="Aptos"/>
              </a:rPr>
              <a:t>- Player_Attributes: Estadísticos de jugadores. Valores extraídos de los videojuegos de FIFA.</a:t>
            </a:r>
            <a:br/>
            <a:r>
              <a:rPr sz="1800">
                <a:solidFill>
                  <a:srgbClr val="1F2937"/>
                </a:solidFill>
                <a:latin typeface="Aptos"/>
              </a:rPr>
              <a:t>- Match: Registro de partidos. Informacion completa: fecha, equipos, visitante o casa, lineamiento, formacion, goles, eventos relevantes, momios, etc.</a:t>
            </a:r>
            <a:br/>
            <a:r>
              <a:rPr sz="1800">
                <a:solidFill>
                  <a:srgbClr val="1F2937"/>
                </a:solidFill>
                <a:latin typeface="Aptos"/>
              </a:rPr>
              <a:t>- League: Ids y nombres de ligas.</a:t>
            </a:r>
            <a:br/>
            <a:r>
              <a:rPr sz="1800">
                <a:solidFill>
                  <a:srgbClr val="1F2937"/>
                </a:solidFill>
                <a:latin typeface="Aptos"/>
              </a:rPr>
              <a:t>- Country: Ids y nombres de paises.</a:t>
            </a:r>
            <a:br/>
            <a:r>
              <a:rPr sz="1800">
                <a:solidFill>
                  <a:srgbClr val="1F2937"/>
                </a:solidFill>
                <a:latin typeface="Aptos"/>
              </a:rPr>
              <a:t>- Team: Ids y nombres de equipos.</a:t>
            </a:r>
            <a:br/>
            <a:r>
              <a:rPr sz="1800">
                <a:solidFill>
                  <a:srgbClr val="1F2937"/>
                </a:solidFill>
                <a:latin typeface="Aptos"/>
              </a:rPr>
              <a:t>- Team_Attributes: Estadísticos de equipos. Valores extraídos de los videojuegos de FIFA.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457200"/>
            <a:ext cx="9601200" cy="914400"/>
          </a:xfrm>
          <a:prstGeom prst="rect">
            <a:avLst/>
          </a:prstGeom>
          <a:noFill/>
        </p:spPr>
        <p:txBody>
          <a:bodyPr wrap="square">
            <a:spAutoFit/>
          </a:bodyPr>
          <a:lstStyle/>
          <a:p>
            <a:pPr algn="l"/>
            <a:r>
              <a:rPr sz="2600" b="1">
                <a:solidFill>
                  <a:srgbClr val="1D4E89"/>
                </a:solidFill>
                <a:latin typeface="Aptos"/>
              </a:rPr>
              <a:t>Dirección del análisis.</a:t>
            </a:r>
          </a:p>
        </p:txBody>
      </p:sp>
      <p:sp>
        <p:nvSpPr>
          <p:cNvPr id="3" name="TextBox 2"/>
          <p:cNvSpPr txBox="1"/>
          <p:nvPr/>
        </p:nvSpPr>
        <p:spPr>
          <a:xfrm>
            <a:off x="822960" y="1005840"/>
            <a:ext cx="9601200" cy="914400"/>
          </a:xfrm>
          <a:prstGeom prst="rect">
            <a:avLst/>
          </a:prstGeom>
          <a:noFill/>
        </p:spPr>
        <p:txBody>
          <a:bodyPr wrap="square">
            <a:spAutoFit/>
          </a:bodyPr>
          <a:lstStyle/>
          <a:p>
            <a:pPr algn="l"/>
            <a:r>
              <a:rPr sz="1800" b="0">
                <a:solidFill>
                  <a:srgbClr val="8D99AE"/>
                </a:solidFill>
                <a:latin typeface="Aptos"/>
              </a:rPr>
              <a:t>¿Para quién esta dirigido este análisis?, ¿Qué tipo de insights planteamos obtener?</a:t>
            </a:r>
          </a:p>
        </p:txBody>
      </p:sp>
      <p:sp>
        <p:nvSpPr>
          <p:cNvPr id="4" name="TextBox 3"/>
          <p:cNvSpPr txBox="1"/>
          <p:nvPr/>
        </p:nvSpPr>
        <p:spPr>
          <a:xfrm>
            <a:off x="822960" y="1554480"/>
            <a:ext cx="9601200" cy="3657600"/>
          </a:xfrm>
          <a:prstGeom prst="rect">
            <a:avLst/>
          </a:prstGeom>
          <a:noFill/>
        </p:spPr>
        <p:txBody>
          <a:bodyPr wrap="square">
            <a:spAutoFit/>
          </a:bodyPr>
          <a:lstStyle/>
          <a:p>
            <a:pPr>
              <a:spcAft>
                <a:spcPts val="1000"/>
              </a:spcAft>
            </a:pPr>
            <a:r>
              <a:rPr sz="1800">
                <a:solidFill>
                  <a:srgbClr val="1F2937"/>
                </a:solidFill>
                <a:latin typeface="Aptos"/>
              </a:rPr>
              <a:t>Como dirección del análisis escogimos el ayudar a directores técnicos y personal encargado de scouter jugadores de equipos de ligas europeas de primera división. El objetivo es obtener insights relevantes que puedan ayudar a una de tres cosas:</a:t>
            </a:r>
          </a:p>
          <a:p>
            <a:pPr>
              <a:spcAft>
                <a:spcPts val="1000"/>
              </a:spcAft>
            </a:pPr>
            <a:r>
              <a:rPr sz="1800">
                <a:solidFill>
                  <a:srgbClr val="1F2937"/>
                </a:solidFill>
                <a:latin typeface="Aptos"/>
              </a:rPr>
              <a:t>- Mejorar toma de decisiones tácticas.</a:t>
            </a:r>
            <a:br/>
            <a:r>
              <a:rPr sz="1800">
                <a:solidFill>
                  <a:srgbClr val="1F2937"/>
                </a:solidFill>
                <a:latin typeface="Aptos"/>
              </a:rPr>
              <a:t>- Ayudar a facilitar el proceso de scouting de nuevos jugadores.</a:t>
            </a:r>
            <a:br/>
            <a:r>
              <a:rPr sz="1800">
                <a:solidFill>
                  <a:srgbClr val="1F2937"/>
                </a:solidFill>
                <a:latin typeface="Aptos"/>
              </a:rPr>
              <a:t>- Ayudar a mejorar el proceso de valuación de jugadores.</a:t>
            </a:r>
          </a:p>
          <a:p>
            <a:pPr>
              <a:spcAft>
                <a:spcPts val="1000"/>
              </a:spcAft>
            </a:pPr>
            <a:r>
              <a:rPr sz="1800">
                <a:solidFill>
                  <a:srgbClr val="1F2937"/>
                </a:solidFill>
                <a:latin typeface="Aptos"/>
              </a:rPr>
              <a:t>Para esto, asumimos que la información de los atributos de jugadores es real y precisa. En realidad esto no es así, pues estos datos se obtienen de los videojuegos de FIFA, los cuales si bien sí se basan en análisis reales, terminan siendo modificados para balancer el videojuego.</a:t>
            </a:r>
          </a:p>
          <a:p>
            <a:pPr>
              <a:spcAft>
                <a:spcPts val="1000"/>
              </a:spcAft>
            </a:pPr>
            <a:r>
              <a:rPr sz="1800">
                <a:solidFill>
                  <a:srgbClr val="1F2937"/>
                </a:solidFill>
                <a:latin typeface="Aptos"/>
              </a:rPr>
              <a:t>Dado el enfoque del análisis, no hicimos uso de la informacion de estadísticos por equipo ni de las estadisticas de los momios de los partidos. Esta información puede ser útil, pero no para ninguno de los tres objetivos principales planteados para este análisis.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01: ¿Qué atributos mirar en jugadores de campo?</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01: ¿Qué atributos mirar en jugadores de campo?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intentamos resolver con nuestro análisis?</a:t>
            </a:r>
          </a:p>
          <a:p>
            <a:pPr>
              <a:spcAft>
                <a:spcPts val="1000"/>
              </a:spcAft>
            </a:pPr>
            <a:r>
              <a:rPr sz="1800">
                <a:solidFill>
                  <a:srgbClr val="1F2937"/>
                </a:solidFill>
                <a:latin typeface="Aptos"/>
              </a:rPr>
              <a:t>El scouting tradicional pierde tiempo evaluando decenas de atributos por jugador. Esto genera exceso de información y retrasa la toma de decisiones durante las ventanas de fichajes.</a:t>
            </a:r>
          </a:p>
          <a:p>
            <a:pPr>
              <a:spcAft>
                <a:spcPts val="1000"/>
              </a:spcAft>
            </a:pPr>
            <a:r>
              <a:rPr sz="1800">
                <a:solidFill>
                  <a:srgbClr val="1F2937"/>
                </a:solidFill>
                <a:latin typeface="Aptos"/>
              </a:rPr>
              <a:t>Solución propuesta:</a:t>
            </a:r>
          </a:p>
          <a:p>
            <a:pPr>
              <a:spcAft>
                <a:spcPts val="1000"/>
              </a:spcAft>
            </a:pPr>
            <a:r>
              <a:rPr sz="1800">
                <a:solidFill>
                  <a:srgbClr val="1F2937"/>
                </a:solidFill>
                <a:latin typeface="Aptos"/>
              </a:rPr>
              <a:t>La matriz de correlación demuestra matemáticamente que los atributos se agrupan en "bloques". Por ejemplo, Velocidad y Aceleración son prácticamente el mismo dato (0.89 de similitud), al igual que Regate y Control de Balón (0.85). No necesitamos analizar 20 variables independientes.</a:t>
            </a:r>
          </a:p>
          <a:p>
            <a:pPr>
              <a:spcAft>
                <a:spcPts val="1000"/>
              </a:spcAft>
            </a:pPr>
            <a:r>
              <a:rPr sz="1800">
                <a:solidFill>
                  <a:srgbClr val="1F2937"/>
                </a:solidFill>
                <a:latin typeface="Aptos"/>
              </a:rPr>
              <a:t>Implicación del negocio:</a:t>
            </a:r>
          </a:p>
          <a:p>
            <a:pPr>
              <a:spcAft>
                <a:spcPts val="1000"/>
              </a:spcAft>
            </a:pPr>
            <a:r>
              <a:rPr sz="1800">
                <a:solidFill>
                  <a:srgbClr val="1F2937"/>
                </a:solidFill>
                <a:latin typeface="Aptos"/>
              </a:rPr>
              <a:t>Esto nos permite reducir a la mitad los indicadores clave de rendimiento (KPIs) Podemos crear un filtro automatizado mucho más ágil. En lugar de buscar "el jugador perfecto en 20 atributos", el equipo de scouting puede enfocarse en evaluar 4 o 5 "bloques o perfiles" fundamentales. Esto acelera el descarte de jugadores que no encajan en el club, optimiza las horas de trabajo de los visores y reduce el riesgo económico en los fichajes.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02: ¿Qué atributos mirar en porteros?</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02: ¿Qué atributos mirar en porteros?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intentamos solucionar con nuestro análisis?</a:t>
            </a:r>
          </a:p>
          <a:p>
            <a:pPr>
              <a:spcAft>
                <a:spcPts val="1000"/>
              </a:spcAft>
            </a:pPr>
            <a:r>
              <a:rPr sz="1800">
                <a:solidFill>
                  <a:srgbClr val="1F2937"/>
                </a:solidFill>
                <a:latin typeface="Aptos"/>
              </a:rPr>
              <a:t>La evaluación de porteros suele basarse en una sobrecarga de métricas redundantes, lo que ralentiza la identificación de talento y encarece la adquisición de datos y herramientas de scouting.</a:t>
            </a:r>
          </a:p>
          <a:p>
            <a:pPr>
              <a:spcAft>
                <a:spcPts val="1000"/>
              </a:spcAft>
            </a:pPr>
            <a:r>
              <a:rPr sz="1800">
                <a:solidFill>
                  <a:srgbClr val="1F2937"/>
                </a:solidFill>
                <a:latin typeface="Aptos"/>
              </a:rPr>
              <a:t>¿Qué solución se propone?</a:t>
            </a:r>
          </a:p>
          <a:p>
            <a:pPr>
              <a:spcAft>
                <a:spcPts val="1000"/>
              </a:spcAft>
            </a:pPr>
            <a:r>
              <a:rPr sz="1800">
                <a:solidFill>
                  <a:srgbClr val="1F2937"/>
                </a:solidFill>
                <a:latin typeface="Aptos"/>
              </a:rPr>
              <a:t>Habilidades como Estirada (Diving) y Reflejos (0.89), o Colocación (Positioning) y Manejo (Handling) (0.83), son indivisibles. En la práctica, un portero que sabe ubicarse raramente da rebotes peligrosos. El entrenamiento y el scouting deben evaluar estos pares de forma conjunta, no aislada. Se detecta una variable aislada, el salto (Jumping) no parece impactar mucho el overall rating de un portero, por lo cual la identificamos como un atriibuto secundario.</a:t>
            </a:r>
          </a:p>
          <a:p>
            <a:pPr>
              <a:spcAft>
                <a:spcPts val="1000"/>
              </a:spcAft>
            </a:pPr>
            <a:r>
              <a:rPr sz="1800">
                <a:solidFill>
                  <a:srgbClr val="1F2937"/>
                </a:solidFill>
                <a:latin typeface="Aptos"/>
              </a:rPr>
              <a:t>¿Qué utilidad trae al negocio el análisis?</a:t>
            </a:r>
          </a:p>
          <a:p>
            <a:pPr>
              <a:spcAft>
                <a:spcPts val="1000"/>
              </a:spcAft>
            </a:pPr>
            <a:r>
              <a:rPr sz="1800">
                <a:solidFill>
                  <a:srgbClr val="1F2937"/>
                </a:solidFill>
                <a:latin typeface="Aptos"/>
              </a:rPr>
              <a:t>Hacer que auditar 7 atributos distintos por portero no sea necesario da un incremento significativo en el ahorro de tiempo y dinero. El sistema de scouting se puede automatizar con solo 2 o 3 métricas clave, ahorrando cientos de horas de análisis de video y datos, asimismo ayuda a identificar “gangas” en el mercado. Al saber que el rendimiento general el predecible se pueden filtrar bases de datos en segundos para encontrar porteros de ligas menores con el mismo perfil estadístico que opciones mucho más caras.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03: ¿Cuánto margen tienen los campistas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03: ¿Cuánto margen tienen los campistas jovenes?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se trata en este análisis?</a:t>
            </a:r>
          </a:p>
          <a:p>
            <a:pPr>
              <a:spcAft>
                <a:spcPts val="1000"/>
              </a:spcAft>
            </a:pPr>
            <a:r>
              <a:rPr sz="1800">
                <a:solidFill>
                  <a:srgbClr val="1F2937"/>
                </a:solidFill>
                <a:latin typeface="Aptos"/>
              </a:rPr>
              <a:t>Al fichar talento joven (18 – 23 años), los clubes suelen guiarse por la intuición sobre "cuánto puede mejorar" un jugador, asumiendo riesgos financieros altos sin un parámetro de lo que es un crecimiento normal frente a uno excepcional.</a:t>
            </a:r>
          </a:p>
          <a:p>
            <a:pPr>
              <a:spcAft>
                <a:spcPts val="1000"/>
              </a:spcAft>
            </a:pPr>
            <a:r>
              <a:rPr sz="1800">
                <a:solidFill>
                  <a:srgbClr val="1F2937"/>
                </a:solidFill>
                <a:latin typeface="Aptos"/>
              </a:rPr>
              <a:t>¿Qué solución se propone?</a:t>
            </a:r>
          </a:p>
          <a:p>
            <a:pPr>
              <a:spcAft>
                <a:spcPts val="1000"/>
              </a:spcAft>
            </a:pPr>
            <a:r>
              <a:rPr sz="1800">
                <a:solidFill>
                  <a:srgbClr val="1F2937"/>
                </a:solidFill>
                <a:latin typeface="Aptos"/>
              </a:rPr>
              <a:t>Este análisis se basa exclusivamente en un conjunto de datos de ligas de primera división europea. En base al histograma, podemos observar que el margen de crecimiento (gap) de un prospecto joven incluido en este dataset tiende a concentrarse entre los 7 y 10 puntos. Este comportamiento de la muestra define nuestro estándar de mercado.</a:t>
            </a:r>
          </a:p>
          <a:p>
            <a:pPr>
              <a:spcAft>
                <a:spcPts val="1000"/>
              </a:spcAft>
            </a:pPr>
            <a:r>
              <a:rPr sz="1800">
                <a:solidFill>
                  <a:srgbClr val="1F2937"/>
                </a:solidFill>
                <a:latin typeface="Aptos"/>
              </a:rPr>
              <a:t>¿Qué implicaciones hay para el negocio?</a:t>
            </a:r>
          </a:p>
          <a:p>
            <a:pPr>
              <a:spcAft>
                <a:spcPts val="1000"/>
              </a:spcAft>
            </a:pPr>
            <a:r>
              <a:rPr sz="1800">
                <a:solidFill>
                  <a:srgbClr val="1F2937"/>
                </a:solidFill>
                <a:latin typeface="Aptos"/>
              </a:rPr>
              <a:t>El departamento de scouting debe prestar menos atención al centro de la gráfica y enfocarse exclusivamente en la "cola derecha" (prospectos con un gap mayor a 12-14 puntos). Estos son los "activos infravalorados": jugadores cuyo costo de transferencia actual es bajo porque su rendimiento inmediato no refleja su techo real. Aquí es donde el club puede comprar barato y vender caro.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04: ¿Cuánto margen tienen los porteros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04: ¿Cuánto margen tienen los porteros jovenes?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se aborda en este análisis?</a:t>
            </a:r>
          </a:p>
          <a:p>
            <a:pPr>
              <a:spcAft>
                <a:spcPts val="1000"/>
              </a:spcAft>
            </a:pPr>
            <a:r>
              <a:rPr sz="1800">
                <a:solidFill>
                  <a:srgbClr val="1F2937"/>
                </a:solidFill>
                <a:latin typeface="Aptos"/>
              </a:rPr>
              <a:t>Evaluar el talento y el techo de los porteros jóvenes (18-23 años) es uno de los mayores retos en el mercado, ya que su curva de maduración suele diferir de la del resto del equipo. Asumir riesgos financieros basándose solo en la intuición puede resultar en inversiones estancadas.</a:t>
            </a:r>
          </a:p>
          <a:p>
            <a:pPr>
              <a:spcAft>
                <a:spcPts val="1000"/>
              </a:spcAft>
            </a:pPr>
            <a:r>
              <a:rPr sz="1800">
                <a:solidFill>
                  <a:srgbClr val="1F2937"/>
                </a:solidFill>
                <a:latin typeface="Aptos"/>
              </a:rPr>
              <a:t>¿Qué solución se presenta?</a:t>
            </a:r>
          </a:p>
          <a:p>
            <a:pPr>
              <a:spcAft>
                <a:spcPts val="1000"/>
              </a:spcAft>
            </a:pPr>
            <a:r>
              <a:rPr sz="1800">
                <a:solidFill>
                  <a:srgbClr val="1F2937"/>
                </a:solidFill>
                <a:latin typeface="Aptos"/>
              </a:rPr>
              <a:t>Este análisis se basa exclusivamente en un conjunto de datos de ligas de primera división europea. En base al histograma, podemos observar que el margen de crecimiento (gap) de los arqueros jóvenes incluidos en este dataset tiende a concentrarse principalmente entre los 7 y 12 puntos, con una mediana cercana a 9. Este comportamiento observado en la muestra define nuestro estándar de mercado para la posición.</a:t>
            </a:r>
          </a:p>
          <a:p>
            <a:pPr>
              <a:spcAft>
                <a:spcPts val="1000"/>
              </a:spcAft>
            </a:pPr>
            <a:r>
              <a:rPr sz="1800">
                <a:solidFill>
                  <a:srgbClr val="1F2937"/>
                </a:solidFill>
                <a:latin typeface="Aptos"/>
              </a:rPr>
              <a:t>¿Qué implicaciones tiene para el negocio?</a:t>
            </a:r>
          </a:p>
          <a:p>
            <a:pPr>
              <a:spcAft>
                <a:spcPts val="1000"/>
              </a:spcAft>
            </a:pPr>
            <a:r>
              <a:rPr sz="1800">
                <a:solidFill>
                  <a:srgbClr val="1F2937"/>
                </a:solidFill>
                <a:latin typeface="Aptos"/>
              </a:rPr>
              <a:t>El departamento de scouting debe enfocar sus recursos en la "cola derecha" de la distribución. Estos casos atípicos representan arqueros que combinan un nivel actual todavía contenido con un techo estimado mucho más alto. Identificarlos permite adquirir prospectos prometedores a un costo de transferencia inicial bajo, maximizando la plusvalía a largo plazo.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05: ¿Qué distingue a los jovenes con alto potencial?</a:t>
            </a:r>
          </a:p>
        </p:txBody>
      </p:sp>
      <p:pic>
        <p:nvPicPr>
          <p:cNvPr id="3" name="Picture 2" descr="image.png"/>
          <p:cNvPicPr>
            <a:picLocks noChangeAspect="1"/>
          </p:cNvPicPr>
          <p:nvPr/>
        </p:nvPicPr>
        <p:blipFill>
          <a:blip r:embed="rId2"/>
          <a:stretch>
            <a:fillRect/>
          </a:stretch>
        </p:blipFill>
        <p:spPr>
          <a:xfrm>
            <a:off x="2416628" y="1188720"/>
            <a:ext cx="7053942" cy="49377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05: ¿Qué distingue a los jovenes con alto potencial?</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Los jugadores jóvenes con mayor potencial destacan principalmente por atributos técnicos y ofensivos, más que por capacidades físicas o defensivas. DRIBBLING, CURVE, BALL_CONTROL y LONG_SHOTS son las variables con mayor diferencia respecto al grupo de referencia, lo que sugiere que el principal desarrollo está más asociado con calidad técnica, creatividad y capacidad para generar jugadas ofensivas que con atributos defensivos tradicionales. También sobresalen POSITIONING y VISION, indicando que la lectura de juego y la toma de decisiones son factores importantes en perfiles con alto potencial.</a:t>
            </a:r>
          </a:p>
          <a:p>
            <a:pPr>
              <a:spcAft>
                <a:spcPts val="1000"/>
              </a:spcAft>
            </a:pPr>
            <a:r>
              <a:rPr sz="1800">
                <a:solidFill>
                  <a:srgbClr val="1F2937"/>
                </a:solidFill>
                <a:latin typeface="Aptos"/>
              </a:rPr>
              <a:t>Desde la perspectiva de scouting, el gráfico sugiere que varios atributos pueden agruparse en bloques similares para simplificar la evaluación de talento joven. Por ejemplo, DRIBBLING, BALL_CONTROL y CURVE reflejan capacidades técnicas relacionadas, mientras que VISION, POSITIONING y SHORT_PASSING representan comprensión táctica y participación ofensiva. Esto permitiría reducir la cantidad de métricas que un scout necesita revisar individualmente y enfocarse en atributos clave representativos de cada bloque, haciendo más eficiente la identificación de jugadores con mayor margen de desarrollo.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06: ¿Qué tan cerrados son los partidos?</a:t>
            </a:r>
          </a:p>
        </p:txBody>
      </p:sp>
      <p:pic>
        <p:nvPicPr>
          <p:cNvPr id="3" name="Picture 2" descr="image.png"/>
          <p:cNvPicPr>
            <a:picLocks noChangeAspect="1"/>
          </p:cNvPicPr>
          <p:nvPr/>
        </p:nvPicPr>
        <p:blipFill>
          <a:blip r:embed="rId2"/>
          <a:stretch>
            <a:fillRect/>
          </a:stretch>
        </p:blipFill>
        <p:spPr>
          <a:xfrm>
            <a:off x="2548889" y="1188720"/>
            <a:ext cx="6789420" cy="49377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06: ¿Qué tan cerrados son los partidos?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La mayor parte de los partidos del dataset se define por márgenes pequeños. Los encuentros cerrados, decididos por un solo gol, representan la categoría más frecuente con cerca del 37% del total, y al sumarlos con los empates, más del 60% de los partidos terminan con diferencias mínimas. Esto confirma que los resultados suelen ser altamente competitivos y que los partidos dominados ampliamente son mucho menos comunes. En contraste, los encuentros con diferencias de 3 o más goles representan la proporción más baja del análisis.</a:t>
            </a:r>
          </a:p>
          <a:p>
            <a:pPr>
              <a:spcAft>
                <a:spcPts val="1000"/>
              </a:spcAft>
            </a:pPr>
            <a:r>
              <a:rPr sz="1800">
                <a:solidFill>
                  <a:srgbClr val="1F2937"/>
                </a:solidFill>
                <a:latin typeface="Aptos"/>
              </a:rPr>
              <a:t>Desde una perspectiva táctica y de scouting, este resultado sugiere que pequeñas ventajas competitivas pueden tener un impacto decisivo en el resultado final. Factores como la toma de decisiones, la concentración, la efectividad en jugadas puntuales o la capacidad para sostener ventajas mínimas adquieren más valor que simplemente generar grandes diferencias estadísticas. Para equipos y analistas, esto implica que conviene priorizar jugadores y esquemas tácticos capaces de influir en momentos clave del partido, ya que en contextos tan cerrados los detalles terminan definiendo gran parte de los resultados.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07: ¿En qué destacan las altas promesas?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07: ¿En qué destacan las altas promesas?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boxplot muestra que el grupo de Alta Promesa (Top 10%) presenta distribuciones más altas que el grupo de Resto de Jóvenes en los seis atributos evaluados. Esto se nota porque, en todos los casos, la mediana de las altas promesas queda por encima de la mediana del resto, lo que indica una ventaja consistente y no aislada en un solo atributo.</a:t>
            </a:r>
          </a:p>
          <a:p>
            <a:pPr>
              <a:spcAft>
                <a:spcPts val="1000"/>
              </a:spcAft>
            </a:pPr>
            <a:r>
              <a:rPr sz="1800">
                <a:solidFill>
                  <a:srgbClr val="1F2937"/>
                </a:solidFill>
                <a:latin typeface="Aptos"/>
              </a:rPr>
              <a:t>Las diferencias más marcadas aparecen en atributos como Visión, Control de Balón, Reacciones y Pase Corto. Esto sugiere que los jugadores jóvenes con mayor potencial no solo destacan por condiciones físicas, sino también por atributos técnicos y de lectura del juego. En Velocidad Sprint y Resistencia también se observa una ventaja para las altas promesas, aunque la separación entre grupos parece algo menor.</a:t>
            </a:r>
          </a:p>
          <a:p>
            <a:pPr>
              <a:spcAft>
                <a:spcPts val="1000"/>
              </a:spcAft>
            </a:pPr>
            <a:r>
              <a:rPr sz="1800">
                <a:solidFill>
                  <a:srgbClr val="1F2937"/>
                </a:solidFill>
                <a:latin typeface="Aptos"/>
              </a:rPr>
              <a:t>En conjunto, la gráfica sugiere que el potencial alto en jugadores jóvenes está asociado a un perfil más completo y balanceado. Es decir, las altas promesas no sobresalen solo en un atributo puntual, sino que tienden a mantener niveles superiores en varias dimensiones importantes del rendimiento.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08: ¿A qué edad rinden mejor los jugadores?</a:t>
            </a:r>
          </a:p>
        </p:txBody>
      </p:sp>
      <p:pic>
        <p:nvPicPr>
          <p:cNvPr id="3" name="Picture 2" descr="image.png"/>
          <p:cNvPicPr>
            <a:picLocks noChangeAspect="1"/>
          </p:cNvPicPr>
          <p:nvPr/>
        </p:nvPicPr>
        <p:blipFill>
          <a:blip r:embed="rId2"/>
          <a:stretch>
            <a:fillRect/>
          </a:stretch>
        </p:blipFill>
        <p:spPr>
          <a:xfrm>
            <a:off x="1828800" y="1188720"/>
            <a:ext cx="8229600" cy="49377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08: ¿A qué edad rinden mejor los jugadores?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De este gráfico de líneas, podemos identificar cuatro etapas que definen la carrera de un futbolista profesional:</a:t>
            </a:r>
          </a:p>
          <a:p>
            <a:pPr>
              <a:spcAft>
                <a:spcPts val="1000"/>
              </a:spcAft>
            </a:pPr>
            <a:r>
              <a:rPr sz="1800">
                <a:solidFill>
                  <a:srgbClr val="1F2937"/>
                </a:solidFill>
                <a:latin typeface="Aptos"/>
              </a:rPr>
              <a:t>- Fase de crecimiento: desde las edades más tempranas (16-18 años), la línea muestra una pendiente ascendente constante y pronunciada. Es en esta etapa donde los jugadores adquieren madurez táctica, experiencia y desarrollo físico.</a:t>
            </a:r>
            <a:br/>
            <a:r>
              <a:rPr sz="1800">
                <a:solidFill>
                  <a:srgbClr val="1F2937"/>
                </a:solidFill>
                <a:latin typeface="Aptos"/>
              </a:rPr>
              <a:t>- El "prime" o pico de rendimiento: la curva alcanza uno de sus puntos más altos y forma una "meseta" típica entre los 27 y los 31 años. Es en esta franja donde el jugador encuentra el balance perfecto: combina su máxima experiencia futbolística con un físico aún en óptimas condiciones.</a:t>
            </a:r>
            <a:br/>
            <a:r>
              <a:rPr sz="1800">
                <a:solidFill>
                  <a:srgbClr val="1F2937"/>
                </a:solidFill>
                <a:latin typeface="Aptos"/>
              </a:rPr>
              <a:t>- Fase de declive: a partir de los 32 años, la línea comienza un descenso evidente, reflejando la pérdida natural de capacidades físicas, como velocidad, explosividad o resistencia, que termina por afectar la valoración general.</a:t>
            </a:r>
            <a:br/>
            <a:r>
              <a:rPr sz="1800">
                <a:solidFill>
                  <a:srgbClr val="1F2937"/>
                </a:solidFill>
                <a:latin typeface="Aptos"/>
              </a:rPr>
              <a:t>- Outliers: El ascenso abrupto en jugadores de 35+ puede deberse a outliers. En este ambito hay que investigar más a fondo, pues puede ser que el promedio suba debido a que los jugadores más talentosos posponen su retiro, sesgando el resultado.</a:t>
            </a:r>
          </a:p>
          <a:p>
            <a:pPr>
              <a:spcAft>
                <a:spcPts val="1000"/>
              </a:spcAft>
            </a:pPr>
            <a:r>
              <a:rPr sz="1800">
                <a:solidFill>
                  <a:srgbClr val="1F2937"/>
                </a:solidFill>
                <a:latin typeface="Aptos"/>
              </a:rPr>
              <a:t>Si el equipo busca éxito inmediato para competir por un campeonato, debe apostar por jugadores en su "prime" (27-30 años), sabiendo que su costo será el más elevado. En cambio, si la directiva busca construir un proyecto a mediano plazo y generar plusvalía, la inversión debe ir hacia la fase de crecimiento (20-23 años), adquiriendo talento cuyo rendimiento y valor de mercado estadísticamente irán al alza.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09: ¿Qué formaciones equilibran uso y rendimiento?</a:t>
            </a:r>
          </a:p>
        </p:txBody>
      </p:sp>
      <p:pic>
        <p:nvPicPr>
          <p:cNvPr id="3" name="Picture 2" descr="image.png"/>
          <p:cNvPicPr>
            <a:picLocks noChangeAspect="1"/>
          </p:cNvPicPr>
          <p:nvPr/>
        </p:nvPicPr>
        <p:blipFill>
          <a:blip r:embed="rId2"/>
          <a:stretch>
            <a:fillRect/>
          </a:stretch>
        </p:blipFill>
        <p:spPr>
          <a:xfrm>
            <a:off x="2063931" y="1188720"/>
            <a:ext cx="7759337" cy="49377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09: ¿Qué formaciones equilibran uso y rendimiento?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se aborda en este análisis?</a:t>
            </a:r>
          </a:p>
          <a:p>
            <a:pPr>
              <a:spcAft>
                <a:spcPts val="1000"/>
              </a:spcAft>
            </a:pPr>
            <a:r>
              <a:rPr sz="1800">
                <a:solidFill>
                  <a:srgbClr val="1F2937"/>
                </a:solidFill>
                <a:latin typeface="Aptos"/>
              </a:rPr>
              <a:t>Evaluar la relación entre el rendimiento, la frecuencia de uso y la proporción/tasa de partidos en casa de las 10 formaciones más utilizadas.</a:t>
            </a:r>
          </a:p>
          <a:p>
            <a:pPr>
              <a:spcAft>
                <a:spcPts val="1000"/>
              </a:spcAft>
            </a:pPr>
            <a:r>
              <a:rPr sz="1800">
                <a:solidFill>
                  <a:srgbClr val="1F2937"/>
                </a:solidFill>
                <a:latin typeface="Aptos"/>
              </a:rPr>
              <a:t>Los insights:</a:t>
            </a:r>
          </a:p>
          <a:p>
            <a:pPr>
              <a:spcAft>
                <a:spcPts val="1000"/>
              </a:spcAft>
            </a:pPr>
            <a:r>
              <a:rPr sz="1800">
                <a:solidFill>
                  <a:srgbClr val="1F2937"/>
                </a:solidFill>
                <a:latin typeface="Aptos"/>
              </a:rPr>
              <a:t>Las formaciones más usadas en general tienden a, en general, traer mejores resultados para el equipo que las utilice, y no parece haber un impacto relevante en si la formación fue utilizada por un equipo local o visitante. De la gráfica obtenemos que las formaciones 4-3-3, 4-3-1-2, 4-4-2 y 4-1-2-1-2 son las más sólidas, pues son las únicas con una diferencia de gol promedio positiva. De estas la formación 4-4-2 y la formación 4-3-3 son las que tienen una señal mas significativa, pues de su tamaño de burbuja inferimos que la muestra es más grande, y por tanto, describe mejor el promedio real de la población.</a:t>
            </a:r>
          </a:p>
          <a:p>
            <a:pPr>
              <a:spcAft>
                <a:spcPts val="1000"/>
              </a:spcAft>
            </a:pPr>
            <a:r>
              <a:rPr sz="1800">
                <a:solidFill>
                  <a:srgbClr val="1F2937"/>
                </a:solidFill>
                <a:latin typeface="Aptos"/>
              </a:rPr>
              <a:t>Insights ejecutables:</a:t>
            </a:r>
          </a:p>
          <a:p>
            <a:pPr>
              <a:spcAft>
                <a:spcPts val="1000"/>
              </a:spcAft>
            </a:pPr>
            <a:r>
              <a:rPr sz="1800">
                <a:solidFill>
                  <a:srgbClr val="1F2937"/>
                </a:solidFill>
                <a:latin typeface="Aptos"/>
              </a:rPr>
              <a:t>En base a los resultados observados, podemos recomendar al equipo técnico que considere optar por las formaciones antes mencionadas; y podríamos recomendar precaución con aquellas con una muestra de menor tamaño (4-1-2-1-2 y 4-3-1-2). Además, este análisis nos ayudara a comprender el siguiente análisis y plantear insights más robustos.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10: ¿Qué formaciones son más seguras o más riesgosas?</a:t>
            </a:r>
          </a:p>
        </p:txBody>
      </p:sp>
      <p:pic>
        <p:nvPicPr>
          <p:cNvPr id="3" name="Picture 2" descr="image.png"/>
          <p:cNvPicPr>
            <a:picLocks noChangeAspect="1"/>
          </p:cNvPicPr>
          <p:nvPr/>
        </p:nvPicPr>
        <p:blipFill>
          <a:blip r:embed="rId2"/>
          <a:stretch>
            <a:fillRect/>
          </a:stretch>
        </p:blipFill>
        <p:spPr>
          <a:xfrm>
            <a:off x="1711234" y="1188720"/>
            <a:ext cx="8464731" cy="493776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10: ¿Qué formaciones son más seguras o más riesgosas?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Desde una perspectiva táctica, el gráfico sugiere que las formaciones pueden clasificarse según su perfil de riesgo: esquemas agresivos para contextos donde ganar es prioritario, y esquemas más sólidos para torneos largos o partidos donde minimizar derrotas es más importante. Tanto para entrenadores como analistas, esto permite evaluar formaciones no solo por porcentaje de victorias, sino por la distribución completa de resultados. Así, una formación con menos derrotas y más empates puede ser más valiosa en ciertos contextos competitivos que otra con más victorias, pero también con mayor inestabilidad en sus resultados.</a:t>
            </a:r>
          </a:p>
          <a:p>
            <a:pPr>
              <a:spcAft>
                <a:spcPts val="1000"/>
              </a:spcAft>
            </a:pPr>
            <a:r>
              <a:rPr sz="1800">
                <a:solidFill>
                  <a:srgbClr val="1F2937"/>
                </a:solidFill>
                <a:latin typeface="Aptos"/>
              </a:rPr>
              <a:t>Este análisis es una interpretación más “superficial” ya que la cantidad de formaciones analizadas no se toma en cuenta. Esto sesga los resultados y hace que algunas formaciones (como la 3-2-3-2) parezcan aparentemente más efectivas, pero esto se debe a que su muestra es más reducida. A diferencia de la diapositiva anterior donde se consideran muestras más amplias y con mejor representación, por lo que sus conclusiones pueden ser más definitivas y tener un mejor enfoque de comparación.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1371600"/>
            <a:ext cx="4572000" cy="548640"/>
          </a:xfrm>
          <a:prstGeom prst="rect">
            <a:avLst/>
          </a:prstGeom>
          <a:noFill/>
        </p:spPr>
        <p:txBody>
          <a:bodyPr wrap="square">
            <a:spAutoFit/>
          </a:bodyPr>
          <a:lstStyle/>
          <a:p>
            <a:pPr algn="l"/>
            <a:r>
              <a:rPr sz="2400" b="1">
                <a:solidFill>
                  <a:srgbClr val="1D4E89"/>
                </a:solidFill>
                <a:latin typeface="Aptos"/>
              </a:rPr>
              <a:t>Integrantes</a:t>
            </a:r>
          </a:p>
        </p:txBody>
      </p:sp>
      <p:sp>
        <p:nvSpPr>
          <p:cNvPr id="3" name="TextBox 2"/>
          <p:cNvSpPr txBox="1"/>
          <p:nvPr/>
        </p:nvSpPr>
        <p:spPr>
          <a:xfrm>
            <a:off x="914400" y="2286000"/>
            <a:ext cx="4572000" cy="2743200"/>
          </a:xfrm>
          <a:prstGeom prst="rect">
            <a:avLst/>
          </a:prstGeom>
          <a:noFill/>
        </p:spPr>
        <p:txBody>
          <a:bodyPr wrap="square">
            <a:spAutoFit/>
          </a:bodyPr>
          <a:lstStyle/>
          <a:p>
            <a:pPr>
              <a:spcAft>
                <a:spcPts val="1000"/>
              </a:spcAft>
            </a:pPr>
            <a:r>
              <a:rPr sz="2000">
                <a:solidFill>
                  <a:srgbClr val="1F2937"/>
                </a:solidFill>
                <a:latin typeface="Aptos"/>
              </a:rPr>
              <a:t>Ossian Ramirez</a:t>
            </a:r>
          </a:p>
          <a:p>
            <a:pPr>
              <a:spcAft>
                <a:spcPts val="1000"/>
              </a:spcAft>
            </a:pPr>
            <a:r>
              <a:rPr sz="2000">
                <a:solidFill>
                  <a:srgbClr val="1F2937"/>
                </a:solidFill>
                <a:latin typeface="Aptos"/>
              </a:rPr>
              <a:t>Estefania Elizabeth</a:t>
            </a:r>
          </a:p>
          <a:p>
            <a:pPr>
              <a:spcAft>
                <a:spcPts val="1000"/>
              </a:spcAft>
            </a:pPr>
            <a:r>
              <a:rPr sz="2000">
                <a:solidFill>
                  <a:srgbClr val="1F2937"/>
                </a:solidFill>
                <a:latin typeface="Aptos"/>
              </a:rPr>
              <a:t>Ian Pascual</a:t>
            </a:r>
          </a:p>
          <a:p>
            <a:pPr>
              <a:spcAft>
                <a:spcPts val="1000"/>
              </a:spcAft>
            </a:pPr>
            <a:r>
              <a:rPr sz="2000">
                <a:solidFill>
                  <a:srgbClr val="1F2937"/>
                </a:solidFill>
                <a:latin typeface="Aptos"/>
              </a:rPr>
              <a:t>Karim Jacob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