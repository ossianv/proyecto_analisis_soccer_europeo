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1F125D-C662-4405-B5A2-8DFFB461D3D4}" v="1" dt="2026-05-22T06:30:00.8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imjacob perez" userId="90064f7212f675cf" providerId="LiveId" clId="{16383BC6-DE67-4FCE-9504-2D7D55C9EFD7}"/>
    <pc:docChg chg="modSld">
      <pc:chgData name="karimjacob perez" userId="90064f7212f675cf" providerId="LiveId" clId="{16383BC6-DE67-4FCE-9504-2D7D55C9EFD7}" dt="2026-05-22T06:30:59.356" v="47" actId="20577"/>
      <pc:docMkLst>
        <pc:docMk/>
      </pc:docMkLst>
      <pc:sldChg chg="modSp mod">
        <pc:chgData name="karimjacob perez" userId="90064f7212f675cf" providerId="LiveId" clId="{16383BC6-DE67-4FCE-9504-2D7D55C9EFD7}" dt="2026-05-22T06:30:59.356" v="47" actId="20577"/>
        <pc:sldMkLst>
          <pc:docMk/>
          <pc:sldMk cId="0" sldId="260"/>
        </pc:sldMkLst>
        <pc:spChg chg="mod">
          <ac:chgData name="karimjacob perez" userId="90064f7212f675cf" providerId="LiveId" clId="{16383BC6-DE67-4FCE-9504-2D7D55C9EFD7}" dt="2026-05-22T06:30:59.356" v="47" actId="20577"/>
          <ac:spMkLst>
            <pc:docMk/>
            <pc:sldMk cId="0" sldId="260"/>
            <ac:spMk id="7" creationId="{E46B75EB-EFC3-9C32-0C29-F3577874C00A}"/>
          </ac:spMkLst>
        </pc:spChg>
      </pc:sldChg>
      <pc:sldChg chg="modSp mod">
        <pc:chgData name="karimjacob perez" userId="90064f7212f675cf" providerId="LiveId" clId="{16383BC6-DE67-4FCE-9504-2D7D55C9EFD7}" dt="2026-05-22T06:30:04.497" v="2" actId="1076"/>
        <pc:sldMkLst>
          <pc:docMk/>
          <pc:sldMk cId="0" sldId="262"/>
        </pc:sldMkLst>
        <pc:spChg chg="mod">
          <ac:chgData name="karimjacob perez" userId="90064f7212f675cf" providerId="LiveId" clId="{16383BC6-DE67-4FCE-9504-2D7D55C9EFD7}" dt="2026-05-22T06:26:08.531" v="0" actId="1076"/>
          <ac:spMkLst>
            <pc:docMk/>
            <pc:sldMk cId="0" sldId="262"/>
            <ac:spMk id="5" creationId="{BA908B03-636F-1BA9-9505-C03D56046B52}"/>
          </ac:spMkLst>
        </pc:spChg>
        <pc:spChg chg="mod">
          <ac:chgData name="karimjacob perez" userId="90064f7212f675cf" providerId="LiveId" clId="{16383BC6-DE67-4FCE-9504-2D7D55C9EFD7}" dt="2026-05-22T06:30:00.845" v="1"/>
          <ac:spMkLst>
            <pc:docMk/>
            <pc:sldMk cId="0" sldId="262"/>
            <ac:spMk id="7" creationId="{BECF93E2-A638-97A7-4AFB-B8911D8DC3A1}"/>
          </ac:spMkLst>
        </pc:spChg>
        <pc:spChg chg="mod">
          <ac:chgData name="karimjacob perez" userId="90064f7212f675cf" providerId="LiveId" clId="{16383BC6-DE67-4FCE-9504-2D7D55C9EFD7}" dt="2026-05-22T06:30:04.497" v="2" actId="1076"/>
          <ac:spMkLst>
            <pc:docMk/>
            <pc:sldMk cId="0" sldId="262"/>
            <ac:spMk id="8" creationId="{DFBB8AC0-24AD-3A20-EFD5-20B7C8CCA13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6CD95F-77BF-457C-88AC-56AD4763E3AB}" type="datetimeFigureOut">
              <a:rPr lang="es-MX" smtClean="0"/>
              <a:t>22/05/2026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F791B7-0869-4F7A-95AF-19D65AC12EDA}" type="slidenum">
              <a:rPr lang="es-MX" smtClean="0"/>
              <a:t>‹Nº›</a:t>
            </a:fld>
            <a:endParaRPr lang="es-MX"/>
          </a:p>
        </p:txBody>
      </p:sp>
    </p:spTree>
    <p:extLst>
      <p:ext uri="{BB962C8B-B14F-4D97-AF65-F5344CB8AC3E}">
        <p14:creationId xmlns:p14="http://schemas.microsoft.com/office/powerpoint/2010/main" val="1201294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822960" y="1280160"/>
            <a:ext cx="9601200" cy="914400"/>
          </a:xfrm>
          <a:prstGeom prst="rect">
            <a:avLst/>
          </a:prstGeom>
          <a:noFill/>
        </p:spPr>
        <p:txBody>
          <a:bodyPr wrap="square">
            <a:spAutoFit/>
          </a:bodyPr>
          <a:lstStyle/>
          <a:p>
            <a:pPr algn="l"/>
            <a:r>
              <a:rPr sz="2400" b="1">
                <a:solidFill>
                  <a:srgbClr val="1D4E89"/>
                </a:solidFill>
                <a:latin typeface="Aptos"/>
              </a:rPr>
              <a:t>Analisis de datos para decisiones futbolisticas</a:t>
            </a:r>
          </a:p>
        </p:txBody>
      </p:sp>
      <p:sp>
        <p:nvSpPr>
          <p:cNvPr id="3" name="TextBox 2"/>
          <p:cNvSpPr txBox="1"/>
          <p:nvPr/>
        </p:nvSpPr>
        <p:spPr>
          <a:xfrm>
            <a:off x="822960" y="2194560"/>
            <a:ext cx="9875520" cy="731520"/>
          </a:xfrm>
          <a:prstGeom prst="rect">
            <a:avLst/>
          </a:prstGeom>
          <a:noFill/>
        </p:spPr>
        <p:txBody>
          <a:bodyPr wrap="square">
            <a:spAutoFit/>
          </a:bodyPr>
          <a:lstStyle/>
          <a:p>
            <a:pPr algn="l"/>
            <a:r>
              <a:rPr sz="1500" b="0">
                <a:solidFill>
                  <a:srgbClr val="8D99AE"/>
                </a:solidFill>
                <a:latin typeface="Aptos"/>
              </a:rPr>
              <a:t>Scouting, perfiles de jugador, valor competitivo y apoyo a decisiones tacticas</a:t>
            </a:r>
          </a:p>
        </p:txBody>
      </p:sp>
      <p:sp>
        <p:nvSpPr>
          <p:cNvPr id="4" name="TextBox 3"/>
          <p:cNvSpPr txBox="1"/>
          <p:nvPr/>
        </p:nvSpPr>
        <p:spPr>
          <a:xfrm>
            <a:off x="822960" y="3931920"/>
            <a:ext cx="9601200" cy="1097280"/>
          </a:xfrm>
          <a:prstGeom prst="rect">
            <a:avLst/>
          </a:prstGeom>
          <a:noFill/>
        </p:spPr>
        <p:txBody>
          <a:bodyPr wrap="square">
            <a:spAutoFit/>
          </a:bodyPr>
          <a:lstStyle/>
          <a:p>
            <a:pPr algn="l"/>
            <a:r>
              <a:rPr sz="1800" b="0">
                <a:solidFill>
                  <a:srgbClr val="1F2937"/>
                </a:solidFill>
                <a:latin typeface="Aptos"/>
              </a:rPr>
              <a:t>Presentacion con graficas e interpretaciones del analisis.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00110"/>
          </a:xfrm>
          <a:prstGeom prst="rect">
            <a:avLst/>
          </a:prstGeom>
          <a:noFill/>
        </p:spPr>
        <p:txBody>
          <a:bodyPr wrap="square">
            <a:spAutoFit/>
          </a:bodyPr>
          <a:lstStyle/>
          <a:p>
            <a:pPr algn="l"/>
            <a:r>
              <a:rPr sz="2000" b="1" dirty="0">
                <a:solidFill>
                  <a:srgbClr val="1D4E89"/>
                </a:solidFill>
                <a:latin typeface="Aptos"/>
              </a:rPr>
              <a:t>An</a:t>
            </a:r>
            <a:r>
              <a:rPr lang="es-MX" sz="2000" b="1" dirty="0">
                <a:solidFill>
                  <a:srgbClr val="1D4E89"/>
                </a:solidFill>
                <a:latin typeface="Aptos"/>
              </a:rPr>
              <a:t>á</a:t>
            </a:r>
            <a:r>
              <a:rPr sz="2000" b="1" dirty="0" err="1">
                <a:solidFill>
                  <a:srgbClr val="1D4E89"/>
                </a:solidFill>
                <a:latin typeface="Aptos"/>
              </a:rPr>
              <a:t>lisis</a:t>
            </a:r>
            <a:r>
              <a:rPr sz="2000" b="1" dirty="0">
                <a:solidFill>
                  <a:srgbClr val="1D4E89"/>
                </a:solidFill>
                <a:latin typeface="Aptos"/>
              </a:rPr>
              <a:t> 01: </a:t>
            </a:r>
            <a:r>
              <a:rPr lang="es-MX" sz="2000" b="1" dirty="0">
                <a:solidFill>
                  <a:srgbClr val="1D4E89"/>
                </a:solidFill>
                <a:latin typeface="Aptos"/>
              </a:rPr>
              <a:t>¿</a:t>
            </a:r>
            <a:r>
              <a:rPr sz="2000" b="1" dirty="0" err="1">
                <a:solidFill>
                  <a:srgbClr val="1D4E89"/>
                </a:solidFill>
                <a:latin typeface="Aptos"/>
              </a:rPr>
              <a:t>Que</a:t>
            </a:r>
            <a:r>
              <a:rPr sz="2000" b="1" dirty="0">
                <a:solidFill>
                  <a:srgbClr val="1D4E89"/>
                </a:solidFill>
                <a:latin typeface="Aptos"/>
              </a:rPr>
              <a:t> </a:t>
            </a:r>
            <a:r>
              <a:rPr sz="2000" b="1" dirty="0" err="1">
                <a:solidFill>
                  <a:srgbClr val="1D4E89"/>
                </a:solidFill>
                <a:latin typeface="Aptos"/>
              </a:rPr>
              <a:t>atributos</a:t>
            </a:r>
            <a:r>
              <a:rPr sz="2000" b="1" dirty="0">
                <a:solidFill>
                  <a:srgbClr val="1D4E89"/>
                </a:solidFill>
                <a:latin typeface="Aptos"/>
              </a:rPr>
              <a:t> </a:t>
            </a:r>
            <a:r>
              <a:rPr sz="2000" b="1" dirty="0" err="1">
                <a:solidFill>
                  <a:srgbClr val="1D4E89"/>
                </a:solidFill>
                <a:latin typeface="Aptos"/>
              </a:rPr>
              <a:t>mirar</a:t>
            </a:r>
            <a:r>
              <a:rPr sz="2000" b="1" dirty="0">
                <a:solidFill>
                  <a:srgbClr val="1D4E89"/>
                </a:solidFill>
                <a:latin typeface="Aptos"/>
              </a:rPr>
              <a:t> </a:t>
            </a:r>
            <a:r>
              <a:rPr sz="2000" b="1" dirty="0" err="1">
                <a:solidFill>
                  <a:srgbClr val="1D4E89"/>
                </a:solidFill>
                <a:latin typeface="Aptos"/>
              </a:rPr>
              <a:t>en</a:t>
            </a:r>
            <a:r>
              <a:rPr sz="2000" b="1" dirty="0">
                <a:solidFill>
                  <a:srgbClr val="1D4E89"/>
                </a:solidFill>
                <a:latin typeface="Aptos"/>
              </a:rPr>
              <a:t> </a:t>
            </a:r>
            <a:r>
              <a:rPr sz="2000" b="1" dirty="0" err="1">
                <a:solidFill>
                  <a:srgbClr val="1D4E89"/>
                </a:solidFill>
                <a:latin typeface="Aptos"/>
              </a:rPr>
              <a:t>jugadores</a:t>
            </a:r>
            <a:r>
              <a:rPr sz="2000" b="1" dirty="0">
                <a:solidFill>
                  <a:srgbClr val="1D4E89"/>
                </a:solidFill>
                <a:latin typeface="Aptos"/>
              </a:rPr>
              <a:t> de campo?</a:t>
            </a:r>
          </a:p>
        </p:txBody>
      </p:sp>
      <p:pic>
        <p:nvPicPr>
          <p:cNvPr id="3" name="Picture 2" descr="image.png"/>
          <p:cNvPicPr>
            <a:picLocks noChangeAspect="1"/>
          </p:cNvPicPr>
          <p:nvPr/>
        </p:nvPicPr>
        <p:blipFill>
          <a:blip r:embed="rId2"/>
          <a:stretch>
            <a:fillRect/>
          </a:stretch>
        </p:blipFill>
        <p:spPr>
          <a:xfrm>
            <a:off x="2651759" y="1188720"/>
            <a:ext cx="6583680" cy="49377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00110"/>
          </a:xfrm>
          <a:prstGeom prst="rect">
            <a:avLst/>
          </a:prstGeom>
          <a:noFill/>
        </p:spPr>
        <p:txBody>
          <a:bodyPr wrap="square">
            <a:spAutoFit/>
          </a:bodyPr>
          <a:lstStyle/>
          <a:p>
            <a:pPr algn="l"/>
            <a:r>
              <a:rPr sz="2000" b="1" dirty="0">
                <a:solidFill>
                  <a:srgbClr val="2A9D8F"/>
                </a:solidFill>
                <a:latin typeface="Aptos"/>
              </a:rPr>
              <a:t>Lectura del a</a:t>
            </a:r>
            <a:r>
              <a:rPr lang="es-MX" sz="2000" b="1" dirty="0" err="1">
                <a:solidFill>
                  <a:srgbClr val="2A9D8F"/>
                </a:solidFill>
                <a:latin typeface="Aptos"/>
              </a:rPr>
              <a:t>ná</a:t>
            </a:r>
            <a:r>
              <a:rPr sz="2000" b="1" dirty="0" err="1">
                <a:solidFill>
                  <a:srgbClr val="2A9D8F"/>
                </a:solidFill>
                <a:latin typeface="Aptos"/>
              </a:rPr>
              <a:t>lisis</a:t>
            </a:r>
            <a:r>
              <a:rPr sz="2000" b="1" dirty="0">
                <a:solidFill>
                  <a:srgbClr val="2A9D8F"/>
                </a:solidFill>
                <a:latin typeface="Aptos"/>
              </a:rPr>
              <a:t> 01: </a:t>
            </a:r>
            <a:r>
              <a:rPr lang="es-MX" sz="2000" b="1" dirty="0">
                <a:solidFill>
                  <a:srgbClr val="2A9D8F"/>
                </a:solidFill>
                <a:latin typeface="Aptos"/>
              </a:rPr>
              <a:t>¿</a:t>
            </a:r>
            <a:r>
              <a:rPr sz="2000" b="1" dirty="0">
                <a:solidFill>
                  <a:srgbClr val="2A9D8F"/>
                </a:solidFill>
                <a:latin typeface="Aptos"/>
              </a:rPr>
              <a:t>Qu</a:t>
            </a:r>
            <a:r>
              <a:rPr lang="es-MX" sz="2000" b="1" dirty="0">
                <a:solidFill>
                  <a:srgbClr val="2A9D8F"/>
                </a:solidFill>
                <a:latin typeface="Aptos"/>
              </a:rPr>
              <a:t>é</a:t>
            </a:r>
            <a:r>
              <a:rPr sz="2000" b="1" dirty="0">
                <a:solidFill>
                  <a:srgbClr val="2A9D8F"/>
                </a:solidFill>
                <a:latin typeface="Aptos"/>
              </a:rPr>
              <a:t> </a:t>
            </a:r>
            <a:r>
              <a:rPr sz="2000" b="1" dirty="0" err="1">
                <a:solidFill>
                  <a:srgbClr val="2A9D8F"/>
                </a:solidFill>
                <a:latin typeface="Aptos"/>
              </a:rPr>
              <a:t>atributos</a:t>
            </a:r>
            <a:r>
              <a:rPr sz="2000" b="1" dirty="0">
                <a:solidFill>
                  <a:srgbClr val="2A9D8F"/>
                </a:solidFill>
                <a:latin typeface="Aptos"/>
              </a:rPr>
              <a:t> </a:t>
            </a:r>
            <a:r>
              <a:rPr sz="2000" b="1" dirty="0" err="1">
                <a:solidFill>
                  <a:srgbClr val="2A9D8F"/>
                </a:solidFill>
                <a:latin typeface="Aptos"/>
              </a:rPr>
              <a:t>mirar</a:t>
            </a:r>
            <a:r>
              <a:rPr sz="2000" b="1" dirty="0">
                <a:solidFill>
                  <a:srgbClr val="2A9D8F"/>
                </a:solidFill>
                <a:latin typeface="Aptos"/>
              </a:rPr>
              <a:t> </a:t>
            </a:r>
            <a:r>
              <a:rPr sz="2000" b="1" dirty="0" err="1">
                <a:solidFill>
                  <a:srgbClr val="2A9D8F"/>
                </a:solidFill>
                <a:latin typeface="Aptos"/>
              </a:rPr>
              <a:t>en</a:t>
            </a:r>
            <a:r>
              <a:rPr sz="2000" b="1" dirty="0">
                <a:solidFill>
                  <a:srgbClr val="2A9D8F"/>
                </a:solidFill>
                <a:latin typeface="Aptos"/>
              </a:rPr>
              <a:t> </a:t>
            </a:r>
            <a:r>
              <a:rPr sz="2000" b="1" dirty="0" err="1">
                <a:solidFill>
                  <a:srgbClr val="2A9D8F"/>
                </a:solidFill>
                <a:latin typeface="Aptos"/>
              </a:rPr>
              <a:t>jugadores</a:t>
            </a:r>
            <a:r>
              <a:rPr sz="2000" b="1" dirty="0">
                <a:solidFill>
                  <a:srgbClr val="2A9D8F"/>
                </a:solidFill>
                <a:latin typeface="Aptos"/>
              </a:rPr>
              <a:t> de campo?</a:t>
            </a:r>
          </a:p>
        </p:txBody>
      </p:sp>
      <p:sp>
        <p:nvSpPr>
          <p:cNvPr id="4" name="TextBox 1">
            <a:extLst>
              <a:ext uri="{FF2B5EF4-FFF2-40B4-BE49-F238E27FC236}">
                <a16:creationId xmlns:a16="http://schemas.microsoft.com/office/drawing/2014/main" id="{1D383376-C7E0-CDCA-2380-AE7824E6AD84}"/>
              </a:ext>
            </a:extLst>
          </p:cNvPr>
          <p:cNvSpPr txBox="1"/>
          <p:nvPr/>
        </p:nvSpPr>
        <p:spPr>
          <a:xfrm>
            <a:off x="640080" y="780728"/>
            <a:ext cx="10058400" cy="400110"/>
          </a:xfrm>
          <a:prstGeom prst="rect">
            <a:avLst/>
          </a:prstGeom>
          <a:noFill/>
        </p:spPr>
        <p:txBody>
          <a:bodyPr wrap="square">
            <a:spAutoFit/>
          </a:bodyPr>
          <a:lstStyle/>
          <a:p>
            <a:pPr algn="l"/>
            <a:r>
              <a:rPr lang="es-MX" sz="2000" i="1" dirty="0">
                <a:solidFill>
                  <a:srgbClr val="2A9D8F"/>
                </a:solidFill>
                <a:latin typeface="Aptos"/>
              </a:rPr>
              <a:t>¿Qué problema intentamos resolver con nuestro análisis?</a:t>
            </a:r>
            <a:endParaRPr sz="2000" i="1" dirty="0">
              <a:solidFill>
                <a:srgbClr val="2A9D8F"/>
              </a:solidFill>
              <a:latin typeface="Aptos"/>
            </a:endParaRPr>
          </a:p>
        </p:txBody>
      </p:sp>
      <p:sp>
        <p:nvSpPr>
          <p:cNvPr id="5" name="CuadroTexto 4">
            <a:extLst>
              <a:ext uri="{FF2B5EF4-FFF2-40B4-BE49-F238E27FC236}">
                <a16:creationId xmlns:a16="http://schemas.microsoft.com/office/drawing/2014/main" id="{3DEF7355-F9F1-D9CD-2675-65236269D1AD}"/>
              </a:ext>
            </a:extLst>
          </p:cNvPr>
          <p:cNvSpPr txBox="1"/>
          <p:nvPr/>
        </p:nvSpPr>
        <p:spPr>
          <a:xfrm>
            <a:off x="640080" y="1155859"/>
            <a:ext cx="10177272" cy="923330"/>
          </a:xfrm>
          <a:prstGeom prst="rect">
            <a:avLst/>
          </a:prstGeom>
          <a:noFill/>
        </p:spPr>
        <p:txBody>
          <a:bodyPr wrap="square" rtlCol="0">
            <a:spAutoFit/>
          </a:bodyPr>
          <a:lstStyle/>
          <a:p>
            <a:r>
              <a:rPr lang="es-MX" dirty="0"/>
              <a:t>El </a:t>
            </a:r>
            <a:r>
              <a:rPr lang="es-MX" i="1" dirty="0" err="1"/>
              <a:t>scouting</a:t>
            </a:r>
            <a:r>
              <a:rPr lang="es-MX" dirty="0"/>
              <a:t> tradicional pierde tiempo evaluando decenas de atributos por jugador. Esto genera exceso de información y retrasa la toma de decisiones durante las ventanas de fichajes.</a:t>
            </a:r>
          </a:p>
          <a:p>
            <a:endParaRPr lang="es-MX" dirty="0"/>
          </a:p>
        </p:txBody>
      </p:sp>
      <p:sp>
        <p:nvSpPr>
          <p:cNvPr id="6" name="TextBox 1">
            <a:extLst>
              <a:ext uri="{FF2B5EF4-FFF2-40B4-BE49-F238E27FC236}">
                <a16:creationId xmlns:a16="http://schemas.microsoft.com/office/drawing/2014/main" id="{55BD7114-447E-2067-4C7D-ABA648A2B447}"/>
              </a:ext>
            </a:extLst>
          </p:cNvPr>
          <p:cNvSpPr txBox="1"/>
          <p:nvPr/>
        </p:nvSpPr>
        <p:spPr>
          <a:xfrm>
            <a:off x="640080" y="1679079"/>
            <a:ext cx="10058400" cy="400110"/>
          </a:xfrm>
          <a:prstGeom prst="rect">
            <a:avLst/>
          </a:prstGeom>
          <a:noFill/>
        </p:spPr>
        <p:txBody>
          <a:bodyPr wrap="square">
            <a:spAutoFit/>
          </a:bodyPr>
          <a:lstStyle/>
          <a:p>
            <a:pPr algn="l"/>
            <a:r>
              <a:rPr lang="es-MX" sz="2000" i="1" dirty="0">
                <a:solidFill>
                  <a:srgbClr val="2A9D8F"/>
                </a:solidFill>
                <a:latin typeface="Aptos"/>
              </a:rPr>
              <a:t>Solución propuesta:</a:t>
            </a:r>
            <a:endParaRPr sz="2000" i="1" dirty="0">
              <a:solidFill>
                <a:srgbClr val="2A9D8F"/>
              </a:solidFill>
              <a:latin typeface="Aptos"/>
            </a:endParaRPr>
          </a:p>
        </p:txBody>
      </p:sp>
      <p:sp>
        <p:nvSpPr>
          <p:cNvPr id="7" name="CuadroTexto 6">
            <a:extLst>
              <a:ext uri="{FF2B5EF4-FFF2-40B4-BE49-F238E27FC236}">
                <a16:creationId xmlns:a16="http://schemas.microsoft.com/office/drawing/2014/main" id="{91A80EE7-986D-1590-E7EA-2AD7FDC8CB8A}"/>
              </a:ext>
            </a:extLst>
          </p:cNvPr>
          <p:cNvSpPr txBox="1"/>
          <p:nvPr/>
        </p:nvSpPr>
        <p:spPr>
          <a:xfrm>
            <a:off x="640080" y="1965663"/>
            <a:ext cx="10177272" cy="923330"/>
          </a:xfrm>
          <a:prstGeom prst="rect">
            <a:avLst/>
          </a:prstGeom>
          <a:noFill/>
        </p:spPr>
        <p:txBody>
          <a:bodyPr wrap="square" rtlCol="0">
            <a:spAutoFit/>
          </a:bodyPr>
          <a:lstStyle/>
          <a:p>
            <a:r>
              <a:rPr lang="es-MX" dirty="0"/>
              <a:t>La matriz de correlación demuestra matemáticamente que los atributos se agrupan en "bloques". Por ejemplo, Velocidad y Aceleración son prácticamente el mismo dato (0.89 de similitud), al igual que Regate y Control de Balón (0.85). No necesitamos analizar 20 variables independientes.</a:t>
            </a:r>
          </a:p>
        </p:txBody>
      </p:sp>
      <p:sp>
        <p:nvSpPr>
          <p:cNvPr id="8" name="TextBox 1">
            <a:extLst>
              <a:ext uri="{FF2B5EF4-FFF2-40B4-BE49-F238E27FC236}">
                <a16:creationId xmlns:a16="http://schemas.microsoft.com/office/drawing/2014/main" id="{30F2D09B-834E-181B-BB76-C46464FD5030}"/>
              </a:ext>
            </a:extLst>
          </p:cNvPr>
          <p:cNvSpPr txBox="1"/>
          <p:nvPr/>
        </p:nvSpPr>
        <p:spPr>
          <a:xfrm>
            <a:off x="640080" y="2775467"/>
            <a:ext cx="10058400" cy="400110"/>
          </a:xfrm>
          <a:prstGeom prst="rect">
            <a:avLst/>
          </a:prstGeom>
          <a:noFill/>
        </p:spPr>
        <p:txBody>
          <a:bodyPr wrap="square">
            <a:spAutoFit/>
          </a:bodyPr>
          <a:lstStyle/>
          <a:p>
            <a:pPr algn="l"/>
            <a:r>
              <a:rPr lang="es-MX" sz="2000" i="1" dirty="0">
                <a:solidFill>
                  <a:srgbClr val="2A9D8F"/>
                </a:solidFill>
                <a:latin typeface="Aptos"/>
              </a:rPr>
              <a:t>Implicación del negocio: </a:t>
            </a:r>
          </a:p>
        </p:txBody>
      </p:sp>
      <p:sp>
        <p:nvSpPr>
          <p:cNvPr id="9" name="CuadroTexto 8">
            <a:extLst>
              <a:ext uri="{FF2B5EF4-FFF2-40B4-BE49-F238E27FC236}">
                <a16:creationId xmlns:a16="http://schemas.microsoft.com/office/drawing/2014/main" id="{53FEEFC5-7FC8-E16E-A7AD-9C2CA37BA2D1}"/>
              </a:ext>
            </a:extLst>
          </p:cNvPr>
          <p:cNvSpPr txBox="1"/>
          <p:nvPr/>
        </p:nvSpPr>
        <p:spPr>
          <a:xfrm>
            <a:off x="640080" y="3045678"/>
            <a:ext cx="10177272" cy="1477328"/>
          </a:xfrm>
          <a:prstGeom prst="rect">
            <a:avLst/>
          </a:prstGeom>
          <a:noFill/>
        </p:spPr>
        <p:txBody>
          <a:bodyPr wrap="square" rtlCol="0">
            <a:spAutoFit/>
          </a:bodyPr>
          <a:lstStyle/>
          <a:p>
            <a:r>
              <a:rPr lang="es-MX" dirty="0"/>
              <a:t>Esto nos permite </a:t>
            </a:r>
            <a:r>
              <a:rPr lang="es-MX" b="1" dirty="0"/>
              <a:t>reducir a la mitad</a:t>
            </a:r>
            <a:r>
              <a:rPr lang="es-MX" dirty="0"/>
              <a:t> los indicadores clave de rendimiento (</a:t>
            </a:r>
            <a:r>
              <a:rPr lang="es-MX" dirty="0" err="1"/>
              <a:t>KPIs</a:t>
            </a:r>
            <a:r>
              <a:rPr lang="es-MX" dirty="0"/>
              <a:t>) Podemos crear un filtro automatizado mucho más ágil. En lugar de buscar "el jugador perfecto en 20 atributos", el equipo de </a:t>
            </a:r>
            <a:r>
              <a:rPr lang="es-MX" i="1" dirty="0" err="1"/>
              <a:t>scouting</a:t>
            </a:r>
            <a:r>
              <a:rPr lang="es-MX" dirty="0"/>
              <a:t> puede enfocarse en evaluar 4 o 5 "bloques o perfiles" fundamentales. Esto acelera el descarte de jugadores que no encajan en el club, optimiza las horas de trabajo de los visores y reduce el riesgo económico en los fichajes.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02: Que atributos mirar en porteros?</a:t>
            </a:r>
          </a:p>
        </p:txBody>
      </p:sp>
      <p:pic>
        <p:nvPicPr>
          <p:cNvPr id="3" name="Picture 2" descr="image.png"/>
          <p:cNvPicPr>
            <a:picLocks noChangeAspect="1"/>
          </p:cNvPicPr>
          <p:nvPr/>
        </p:nvPicPr>
        <p:blipFill>
          <a:blip r:embed="rId2"/>
          <a:stretch>
            <a:fillRect/>
          </a:stretch>
        </p:blipFill>
        <p:spPr>
          <a:xfrm>
            <a:off x="2651759" y="1188720"/>
            <a:ext cx="6583680" cy="49377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00110"/>
          </a:xfrm>
          <a:prstGeom prst="rect">
            <a:avLst/>
          </a:prstGeom>
          <a:noFill/>
        </p:spPr>
        <p:txBody>
          <a:bodyPr wrap="square">
            <a:spAutoFit/>
          </a:bodyPr>
          <a:lstStyle/>
          <a:p>
            <a:pPr algn="l"/>
            <a:r>
              <a:rPr sz="2000" b="1" dirty="0">
                <a:solidFill>
                  <a:srgbClr val="2A9D8F"/>
                </a:solidFill>
                <a:latin typeface="Aptos"/>
              </a:rPr>
              <a:t>Lectura del </a:t>
            </a:r>
            <a:r>
              <a:rPr sz="2000" b="1" dirty="0" err="1">
                <a:solidFill>
                  <a:srgbClr val="2A9D8F"/>
                </a:solidFill>
                <a:latin typeface="Aptos"/>
              </a:rPr>
              <a:t>analisis</a:t>
            </a:r>
            <a:r>
              <a:rPr sz="2000" b="1" dirty="0">
                <a:solidFill>
                  <a:srgbClr val="2A9D8F"/>
                </a:solidFill>
                <a:latin typeface="Aptos"/>
              </a:rPr>
              <a:t> 02: </a:t>
            </a:r>
            <a:r>
              <a:rPr lang="es-MX" sz="2000" b="1" dirty="0">
                <a:solidFill>
                  <a:srgbClr val="2A9D8F"/>
                </a:solidFill>
                <a:latin typeface="Aptos"/>
              </a:rPr>
              <a:t>¿</a:t>
            </a:r>
            <a:r>
              <a:rPr sz="2000" b="1" dirty="0">
                <a:solidFill>
                  <a:srgbClr val="2A9D8F"/>
                </a:solidFill>
                <a:latin typeface="Aptos"/>
              </a:rPr>
              <a:t>Qu</a:t>
            </a:r>
            <a:r>
              <a:rPr lang="es-MX" sz="2000" b="1" dirty="0">
                <a:solidFill>
                  <a:srgbClr val="2A9D8F"/>
                </a:solidFill>
                <a:latin typeface="Aptos"/>
              </a:rPr>
              <a:t>é</a:t>
            </a:r>
            <a:r>
              <a:rPr sz="2000" b="1" dirty="0">
                <a:solidFill>
                  <a:srgbClr val="2A9D8F"/>
                </a:solidFill>
                <a:latin typeface="Aptos"/>
              </a:rPr>
              <a:t> </a:t>
            </a:r>
            <a:r>
              <a:rPr sz="2000" b="1" dirty="0" err="1">
                <a:solidFill>
                  <a:srgbClr val="2A9D8F"/>
                </a:solidFill>
                <a:latin typeface="Aptos"/>
              </a:rPr>
              <a:t>atributos</a:t>
            </a:r>
            <a:r>
              <a:rPr sz="2000" b="1" dirty="0">
                <a:solidFill>
                  <a:srgbClr val="2A9D8F"/>
                </a:solidFill>
                <a:latin typeface="Aptos"/>
              </a:rPr>
              <a:t> </a:t>
            </a:r>
            <a:r>
              <a:rPr sz="2000" b="1" dirty="0" err="1">
                <a:solidFill>
                  <a:srgbClr val="2A9D8F"/>
                </a:solidFill>
                <a:latin typeface="Aptos"/>
              </a:rPr>
              <a:t>mirar</a:t>
            </a:r>
            <a:r>
              <a:rPr sz="2000" b="1" dirty="0">
                <a:solidFill>
                  <a:srgbClr val="2A9D8F"/>
                </a:solidFill>
                <a:latin typeface="Aptos"/>
              </a:rPr>
              <a:t> </a:t>
            </a:r>
            <a:r>
              <a:rPr sz="2000" b="1" dirty="0" err="1">
                <a:solidFill>
                  <a:srgbClr val="2A9D8F"/>
                </a:solidFill>
                <a:latin typeface="Aptos"/>
              </a:rPr>
              <a:t>en</a:t>
            </a:r>
            <a:r>
              <a:rPr sz="2000" b="1" dirty="0">
                <a:solidFill>
                  <a:srgbClr val="2A9D8F"/>
                </a:solidFill>
                <a:latin typeface="Aptos"/>
              </a:rPr>
              <a:t> </a:t>
            </a:r>
            <a:r>
              <a:rPr sz="2000" b="1" dirty="0" err="1">
                <a:solidFill>
                  <a:srgbClr val="2A9D8F"/>
                </a:solidFill>
                <a:latin typeface="Aptos"/>
              </a:rPr>
              <a:t>porteros</a:t>
            </a:r>
            <a:r>
              <a:rPr sz="2000" b="1" dirty="0">
                <a:solidFill>
                  <a:srgbClr val="2A9D8F"/>
                </a:solidFill>
                <a:latin typeface="Aptos"/>
              </a:rPr>
              <a:t>?</a:t>
            </a:r>
          </a:p>
        </p:txBody>
      </p:sp>
      <p:sp>
        <p:nvSpPr>
          <p:cNvPr id="5" name="TextBox 1">
            <a:extLst>
              <a:ext uri="{FF2B5EF4-FFF2-40B4-BE49-F238E27FC236}">
                <a16:creationId xmlns:a16="http://schemas.microsoft.com/office/drawing/2014/main" id="{E1BEE3FC-203C-E8B8-C080-E7EAC4F10690}"/>
              </a:ext>
            </a:extLst>
          </p:cNvPr>
          <p:cNvSpPr txBox="1"/>
          <p:nvPr/>
        </p:nvSpPr>
        <p:spPr>
          <a:xfrm>
            <a:off x="596211" y="751976"/>
            <a:ext cx="10058400" cy="400110"/>
          </a:xfrm>
          <a:prstGeom prst="rect">
            <a:avLst/>
          </a:prstGeom>
          <a:noFill/>
        </p:spPr>
        <p:txBody>
          <a:bodyPr wrap="square">
            <a:spAutoFit/>
          </a:bodyPr>
          <a:lstStyle/>
          <a:p>
            <a:pPr algn="l"/>
            <a:r>
              <a:rPr lang="es-MX" sz="2000" i="1" dirty="0">
                <a:solidFill>
                  <a:srgbClr val="2A9D8F"/>
                </a:solidFill>
                <a:latin typeface="Aptos"/>
              </a:rPr>
              <a:t>¿Qué problema intentamos solucionar con nuestro análisis? </a:t>
            </a:r>
            <a:endParaRPr sz="2000" i="1" dirty="0">
              <a:solidFill>
                <a:srgbClr val="2A9D8F"/>
              </a:solidFill>
              <a:latin typeface="Aptos"/>
            </a:endParaRPr>
          </a:p>
        </p:txBody>
      </p:sp>
      <p:sp>
        <p:nvSpPr>
          <p:cNvPr id="6" name="TextBox 1">
            <a:extLst>
              <a:ext uri="{FF2B5EF4-FFF2-40B4-BE49-F238E27FC236}">
                <a16:creationId xmlns:a16="http://schemas.microsoft.com/office/drawing/2014/main" id="{1A2CFD3C-32A8-901F-CC17-CF69AA253587}"/>
              </a:ext>
            </a:extLst>
          </p:cNvPr>
          <p:cNvSpPr txBox="1"/>
          <p:nvPr/>
        </p:nvSpPr>
        <p:spPr>
          <a:xfrm>
            <a:off x="640080" y="1097850"/>
            <a:ext cx="10058400" cy="1015663"/>
          </a:xfrm>
          <a:prstGeom prst="rect">
            <a:avLst/>
          </a:prstGeom>
          <a:noFill/>
        </p:spPr>
        <p:txBody>
          <a:bodyPr wrap="square">
            <a:spAutoFit/>
          </a:bodyPr>
          <a:lstStyle/>
          <a:p>
            <a:r>
              <a:rPr lang="es-MX" sz="2000" dirty="0"/>
              <a:t>La evaluación de porteros suele basarse en una sobrecarga de métricas redundantes, lo que ralentiza la identificación de talento y encarece la adquisición de datos y herramientas de </a:t>
            </a:r>
            <a:r>
              <a:rPr lang="es-MX" sz="2000" i="1" dirty="0" err="1"/>
              <a:t>scouting</a:t>
            </a:r>
            <a:endParaRPr sz="2000" i="1" dirty="0">
              <a:solidFill>
                <a:srgbClr val="2A9D8F"/>
              </a:solidFill>
              <a:latin typeface="Aptos"/>
            </a:endParaRPr>
          </a:p>
        </p:txBody>
      </p:sp>
      <p:sp>
        <p:nvSpPr>
          <p:cNvPr id="7" name="TextBox 1">
            <a:extLst>
              <a:ext uri="{FF2B5EF4-FFF2-40B4-BE49-F238E27FC236}">
                <a16:creationId xmlns:a16="http://schemas.microsoft.com/office/drawing/2014/main" id="{E46B75EB-EFC3-9C32-0C29-F3577874C00A}"/>
              </a:ext>
            </a:extLst>
          </p:cNvPr>
          <p:cNvSpPr txBox="1"/>
          <p:nvPr/>
        </p:nvSpPr>
        <p:spPr>
          <a:xfrm>
            <a:off x="596211" y="2114807"/>
            <a:ext cx="10058400" cy="400110"/>
          </a:xfrm>
          <a:prstGeom prst="rect">
            <a:avLst/>
          </a:prstGeom>
          <a:noFill/>
        </p:spPr>
        <p:txBody>
          <a:bodyPr wrap="square">
            <a:spAutoFit/>
          </a:bodyPr>
          <a:lstStyle/>
          <a:p>
            <a:pPr algn="l"/>
            <a:r>
              <a:rPr lang="es-MX" sz="2000" i="1" dirty="0">
                <a:solidFill>
                  <a:srgbClr val="2A9D8F"/>
                </a:solidFill>
                <a:latin typeface="Aptos"/>
              </a:rPr>
              <a:t>¿Qué solución se propone?</a:t>
            </a:r>
            <a:endParaRPr sz="2000" i="1" dirty="0">
              <a:solidFill>
                <a:srgbClr val="2A9D8F"/>
              </a:solidFill>
              <a:latin typeface="Aptos"/>
            </a:endParaRPr>
          </a:p>
        </p:txBody>
      </p:sp>
      <p:sp>
        <p:nvSpPr>
          <p:cNvPr id="8" name="TextBox 1">
            <a:extLst>
              <a:ext uri="{FF2B5EF4-FFF2-40B4-BE49-F238E27FC236}">
                <a16:creationId xmlns:a16="http://schemas.microsoft.com/office/drawing/2014/main" id="{75F46A08-1867-86EE-04CD-35C03E4D3302}"/>
              </a:ext>
            </a:extLst>
          </p:cNvPr>
          <p:cNvSpPr txBox="1"/>
          <p:nvPr/>
        </p:nvSpPr>
        <p:spPr>
          <a:xfrm>
            <a:off x="640080" y="2420682"/>
            <a:ext cx="10058400" cy="1631216"/>
          </a:xfrm>
          <a:prstGeom prst="rect">
            <a:avLst/>
          </a:prstGeom>
          <a:noFill/>
        </p:spPr>
        <p:txBody>
          <a:bodyPr wrap="square">
            <a:spAutoFit/>
          </a:bodyPr>
          <a:lstStyle/>
          <a:p>
            <a:r>
              <a:rPr lang="es-MX" sz="2000" dirty="0"/>
              <a:t>Habilidades como Estirada (</a:t>
            </a:r>
            <a:r>
              <a:rPr lang="es-MX" sz="2000" i="1" dirty="0" err="1"/>
              <a:t>Diving</a:t>
            </a:r>
            <a:r>
              <a:rPr lang="es-MX" sz="2000" dirty="0"/>
              <a:t>) y Reflejos (0.89), o Colocación (</a:t>
            </a:r>
            <a:r>
              <a:rPr lang="es-MX" sz="2000" i="1" dirty="0" err="1"/>
              <a:t>Positioning</a:t>
            </a:r>
            <a:r>
              <a:rPr lang="es-MX" sz="2000" dirty="0"/>
              <a:t>) y Manejo (</a:t>
            </a:r>
            <a:r>
              <a:rPr lang="es-MX" sz="2000" i="1" dirty="0" err="1"/>
              <a:t>Handling</a:t>
            </a:r>
            <a:r>
              <a:rPr lang="es-MX" sz="2000" dirty="0"/>
              <a:t>) (0.83), son indivisibles. En la práctica, un portero que sabe ubicarse raramente da rebotes peligrosos. El entrenamiento y el </a:t>
            </a:r>
            <a:r>
              <a:rPr lang="es-MX" sz="2000" i="1" dirty="0" err="1"/>
              <a:t>scouting</a:t>
            </a:r>
            <a:r>
              <a:rPr lang="es-MX" sz="2000" dirty="0"/>
              <a:t> deben evaluar estos pares de forma conjunta, no aislada. Se detecta una variable aislada, el salto (</a:t>
            </a:r>
            <a:r>
              <a:rPr lang="es-MX" sz="2000" i="1" dirty="0"/>
              <a:t>Jumping</a:t>
            </a:r>
            <a:r>
              <a:rPr lang="es-MX" sz="2000" dirty="0"/>
              <a:t>) nos indica que la calidad de un portero se centra más en técnica y ubicación, no en atletismo puro.</a:t>
            </a:r>
            <a:endParaRPr sz="2000" i="1" dirty="0">
              <a:solidFill>
                <a:srgbClr val="2A9D8F"/>
              </a:solidFill>
              <a:latin typeface="Aptos"/>
            </a:endParaRPr>
          </a:p>
        </p:txBody>
      </p:sp>
      <p:sp>
        <p:nvSpPr>
          <p:cNvPr id="9" name="TextBox 1">
            <a:extLst>
              <a:ext uri="{FF2B5EF4-FFF2-40B4-BE49-F238E27FC236}">
                <a16:creationId xmlns:a16="http://schemas.microsoft.com/office/drawing/2014/main" id="{DF88602A-C31F-7630-E3C5-9C504164B454}"/>
              </a:ext>
            </a:extLst>
          </p:cNvPr>
          <p:cNvSpPr txBox="1"/>
          <p:nvPr/>
        </p:nvSpPr>
        <p:spPr>
          <a:xfrm>
            <a:off x="596211" y="4051898"/>
            <a:ext cx="10058400" cy="400110"/>
          </a:xfrm>
          <a:prstGeom prst="rect">
            <a:avLst/>
          </a:prstGeom>
          <a:noFill/>
        </p:spPr>
        <p:txBody>
          <a:bodyPr wrap="square">
            <a:spAutoFit/>
          </a:bodyPr>
          <a:lstStyle/>
          <a:p>
            <a:pPr algn="l"/>
            <a:r>
              <a:rPr lang="es-MX" sz="2000" i="1" dirty="0">
                <a:solidFill>
                  <a:srgbClr val="2A9D8F"/>
                </a:solidFill>
                <a:latin typeface="Aptos"/>
              </a:rPr>
              <a:t>¿Qué utilidad trae al negocio el análisis?</a:t>
            </a:r>
            <a:endParaRPr sz="2000" i="1" dirty="0">
              <a:solidFill>
                <a:srgbClr val="2A9D8F"/>
              </a:solidFill>
              <a:latin typeface="Aptos"/>
            </a:endParaRPr>
          </a:p>
        </p:txBody>
      </p:sp>
      <p:sp>
        <p:nvSpPr>
          <p:cNvPr id="10" name="TextBox 1">
            <a:extLst>
              <a:ext uri="{FF2B5EF4-FFF2-40B4-BE49-F238E27FC236}">
                <a16:creationId xmlns:a16="http://schemas.microsoft.com/office/drawing/2014/main" id="{72D37102-C1F3-2268-D5D0-EC405318FEB7}"/>
              </a:ext>
            </a:extLst>
          </p:cNvPr>
          <p:cNvSpPr txBox="1"/>
          <p:nvPr/>
        </p:nvSpPr>
        <p:spPr>
          <a:xfrm>
            <a:off x="596211" y="4452008"/>
            <a:ext cx="10058400" cy="1938992"/>
          </a:xfrm>
          <a:prstGeom prst="rect">
            <a:avLst/>
          </a:prstGeom>
          <a:noFill/>
        </p:spPr>
        <p:txBody>
          <a:bodyPr wrap="square">
            <a:spAutoFit/>
          </a:bodyPr>
          <a:lstStyle/>
          <a:p>
            <a:r>
              <a:rPr lang="es-MX" sz="2000" dirty="0"/>
              <a:t>Hacer que auditar 15 atributos distintos por portero no sea necesario da un incremento significativo en el ahorro de tiempo y dinero . El sistema de </a:t>
            </a:r>
            <a:r>
              <a:rPr lang="es-MX" sz="2000" i="1" dirty="0" err="1"/>
              <a:t>scouting</a:t>
            </a:r>
            <a:r>
              <a:rPr lang="es-MX" sz="2000" dirty="0"/>
              <a:t> se puede automatizar con solo 2 o 3 métricas clave, ahorrando cientos de horas de análisis de video y datos, asimismo ayuda a identificar “gangas” en el mercado. Al saber que el rendimiento general el predecible se pueden filtrar bases de datos en segundos para encontrar porteros de ligas menores con el mismo perfil estadístico que opciones mucho más caras.</a:t>
            </a:r>
            <a:endParaRPr sz="2000" i="1" dirty="0">
              <a:solidFill>
                <a:srgbClr val="2A9D8F"/>
              </a:solidFill>
              <a:latin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03: Cuanto margen tienen los campistas jovenes?</a:t>
            </a:r>
          </a:p>
        </p:txBody>
      </p:sp>
      <p:pic>
        <p:nvPicPr>
          <p:cNvPr id="3" name="Picture 2" descr="image.png"/>
          <p:cNvPicPr>
            <a:picLocks noChangeAspect="1"/>
          </p:cNvPicPr>
          <p:nvPr/>
        </p:nvPicPr>
        <p:blipFill>
          <a:blip r:embed="rId2"/>
          <a:stretch>
            <a:fillRect/>
          </a:stretch>
        </p:blipFill>
        <p:spPr>
          <a:xfrm>
            <a:off x="1005839" y="1188720"/>
            <a:ext cx="9875520" cy="4937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00110"/>
          </a:xfrm>
          <a:prstGeom prst="rect">
            <a:avLst/>
          </a:prstGeom>
          <a:noFill/>
        </p:spPr>
        <p:txBody>
          <a:bodyPr wrap="square">
            <a:spAutoFit/>
          </a:bodyPr>
          <a:lstStyle/>
          <a:p>
            <a:pPr algn="l"/>
            <a:r>
              <a:rPr sz="2000" b="1" dirty="0">
                <a:solidFill>
                  <a:srgbClr val="2A9D8F"/>
                </a:solidFill>
                <a:latin typeface="Aptos"/>
              </a:rPr>
              <a:t>Lectura del an</a:t>
            </a:r>
            <a:r>
              <a:rPr lang="es-MX" sz="2000" b="1" dirty="0">
                <a:solidFill>
                  <a:srgbClr val="2A9D8F"/>
                </a:solidFill>
                <a:latin typeface="Aptos"/>
              </a:rPr>
              <a:t>á</a:t>
            </a:r>
            <a:r>
              <a:rPr sz="2000" b="1" dirty="0" err="1">
                <a:solidFill>
                  <a:srgbClr val="2A9D8F"/>
                </a:solidFill>
                <a:latin typeface="Aptos"/>
              </a:rPr>
              <a:t>lisis</a:t>
            </a:r>
            <a:r>
              <a:rPr sz="2000" b="1" dirty="0">
                <a:solidFill>
                  <a:srgbClr val="2A9D8F"/>
                </a:solidFill>
                <a:latin typeface="Aptos"/>
              </a:rPr>
              <a:t> 03: </a:t>
            </a:r>
            <a:r>
              <a:rPr lang="es-MX" sz="2000" b="1" dirty="0">
                <a:solidFill>
                  <a:srgbClr val="2A9D8F"/>
                </a:solidFill>
                <a:latin typeface="Aptos"/>
              </a:rPr>
              <a:t>¿</a:t>
            </a:r>
            <a:r>
              <a:rPr sz="2000" b="1" dirty="0">
                <a:solidFill>
                  <a:srgbClr val="2A9D8F"/>
                </a:solidFill>
                <a:latin typeface="Aptos"/>
              </a:rPr>
              <a:t>Cu</a:t>
            </a:r>
            <a:r>
              <a:rPr lang="es-MX" sz="2000" b="1" dirty="0">
                <a:solidFill>
                  <a:srgbClr val="2A9D8F"/>
                </a:solidFill>
                <a:latin typeface="Aptos"/>
              </a:rPr>
              <a:t>á</a:t>
            </a:r>
            <a:r>
              <a:rPr sz="2000" b="1" dirty="0" err="1">
                <a:solidFill>
                  <a:srgbClr val="2A9D8F"/>
                </a:solidFill>
                <a:latin typeface="Aptos"/>
              </a:rPr>
              <a:t>nto</a:t>
            </a:r>
            <a:r>
              <a:rPr sz="2000" b="1" dirty="0">
                <a:solidFill>
                  <a:srgbClr val="2A9D8F"/>
                </a:solidFill>
                <a:latin typeface="Aptos"/>
              </a:rPr>
              <a:t> </a:t>
            </a:r>
            <a:r>
              <a:rPr sz="2000" b="1" dirty="0" err="1">
                <a:solidFill>
                  <a:srgbClr val="2A9D8F"/>
                </a:solidFill>
                <a:latin typeface="Aptos"/>
              </a:rPr>
              <a:t>margen</a:t>
            </a:r>
            <a:r>
              <a:rPr sz="2000" b="1" dirty="0">
                <a:solidFill>
                  <a:srgbClr val="2A9D8F"/>
                </a:solidFill>
                <a:latin typeface="Aptos"/>
              </a:rPr>
              <a:t> </a:t>
            </a:r>
            <a:r>
              <a:rPr sz="2000" b="1" dirty="0" err="1">
                <a:solidFill>
                  <a:srgbClr val="2A9D8F"/>
                </a:solidFill>
                <a:latin typeface="Aptos"/>
              </a:rPr>
              <a:t>tienen</a:t>
            </a:r>
            <a:r>
              <a:rPr sz="2000" b="1" dirty="0">
                <a:solidFill>
                  <a:srgbClr val="2A9D8F"/>
                </a:solidFill>
                <a:latin typeface="Aptos"/>
              </a:rPr>
              <a:t> </a:t>
            </a:r>
            <a:r>
              <a:rPr sz="2000" b="1" dirty="0" err="1">
                <a:solidFill>
                  <a:srgbClr val="2A9D8F"/>
                </a:solidFill>
                <a:latin typeface="Aptos"/>
              </a:rPr>
              <a:t>los</a:t>
            </a:r>
            <a:r>
              <a:rPr sz="2000" b="1" dirty="0">
                <a:solidFill>
                  <a:srgbClr val="2A9D8F"/>
                </a:solidFill>
                <a:latin typeface="Aptos"/>
              </a:rPr>
              <a:t> </a:t>
            </a:r>
            <a:r>
              <a:rPr sz="2000" b="1" dirty="0" err="1">
                <a:solidFill>
                  <a:srgbClr val="2A9D8F"/>
                </a:solidFill>
                <a:latin typeface="Aptos"/>
              </a:rPr>
              <a:t>campistas</a:t>
            </a:r>
            <a:r>
              <a:rPr sz="2000" b="1" dirty="0">
                <a:solidFill>
                  <a:srgbClr val="2A9D8F"/>
                </a:solidFill>
                <a:latin typeface="Aptos"/>
              </a:rPr>
              <a:t> </a:t>
            </a:r>
            <a:r>
              <a:rPr sz="2000" b="1" dirty="0" err="1">
                <a:solidFill>
                  <a:srgbClr val="2A9D8F"/>
                </a:solidFill>
                <a:latin typeface="Aptos"/>
              </a:rPr>
              <a:t>jovenes</a:t>
            </a:r>
            <a:r>
              <a:rPr sz="2000" b="1" dirty="0">
                <a:solidFill>
                  <a:srgbClr val="2A9D8F"/>
                </a:solidFill>
                <a:latin typeface="Aptos"/>
              </a:rPr>
              <a:t>?</a:t>
            </a:r>
          </a:p>
        </p:txBody>
      </p:sp>
      <p:sp>
        <p:nvSpPr>
          <p:cNvPr id="4" name="TextBox 1">
            <a:extLst>
              <a:ext uri="{FF2B5EF4-FFF2-40B4-BE49-F238E27FC236}">
                <a16:creationId xmlns:a16="http://schemas.microsoft.com/office/drawing/2014/main" id="{33ECA12C-ADBC-5EEF-695F-A94CCBBF97CD}"/>
              </a:ext>
            </a:extLst>
          </p:cNvPr>
          <p:cNvSpPr txBox="1"/>
          <p:nvPr/>
        </p:nvSpPr>
        <p:spPr>
          <a:xfrm>
            <a:off x="573024" y="773299"/>
            <a:ext cx="10058400" cy="400110"/>
          </a:xfrm>
          <a:prstGeom prst="rect">
            <a:avLst/>
          </a:prstGeom>
          <a:noFill/>
        </p:spPr>
        <p:txBody>
          <a:bodyPr wrap="square">
            <a:spAutoFit/>
          </a:bodyPr>
          <a:lstStyle/>
          <a:p>
            <a:pPr algn="l"/>
            <a:r>
              <a:rPr lang="es-MX" sz="2000" i="1" dirty="0">
                <a:solidFill>
                  <a:srgbClr val="2A9D8F"/>
                </a:solidFill>
                <a:latin typeface="Aptos"/>
              </a:rPr>
              <a:t>¿Qué problema se trata en este análisis?</a:t>
            </a:r>
            <a:endParaRPr sz="2000" i="1" dirty="0">
              <a:solidFill>
                <a:srgbClr val="2A9D8F"/>
              </a:solidFill>
              <a:latin typeface="Aptos"/>
            </a:endParaRPr>
          </a:p>
        </p:txBody>
      </p:sp>
      <p:sp>
        <p:nvSpPr>
          <p:cNvPr id="5" name="TextBox 1">
            <a:extLst>
              <a:ext uri="{FF2B5EF4-FFF2-40B4-BE49-F238E27FC236}">
                <a16:creationId xmlns:a16="http://schemas.microsoft.com/office/drawing/2014/main" id="{BA908B03-636F-1BA9-9505-C03D56046B52}"/>
              </a:ext>
            </a:extLst>
          </p:cNvPr>
          <p:cNvSpPr txBox="1"/>
          <p:nvPr/>
        </p:nvSpPr>
        <p:spPr>
          <a:xfrm>
            <a:off x="640080" y="1124456"/>
            <a:ext cx="10058400" cy="1015663"/>
          </a:xfrm>
          <a:prstGeom prst="rect">
            <a:avLst/>
          </a:prstGeom>
          <a:noFill/>
        </p:spPr>
        <p:txBody>
          <a:bodyPr wrap="square">
            <a:spAutoFit/>
          </a:bodyPr>
          <a:lstStyle/>
          <a:p>
            <a:r>
              <a:rPr lang="es-MX" sz="2000" dirty="0"/>
              <a:t>Al fichar talento joven (Sub-23), los clubes suelen guiarse por la intuición sobre "cuánto puede mejorar" un jugador, asumiendo riesgos financieros altos sin un parámetro de lo que es un crecimiento normal frente a uno excepcional.</a:t>
            </a:r>
            <a:endParaRPr sz="2000" b="1" dirty="0">
              <a:solidFill>
                <a:srgbClr val="2A9D8F"/>
              </a:solidFill>
              <a:latin typeface="Aptos"/>
            </a:endParaRPr>
          </a:p>
        </p:txBody>
      </p:sp>
      <p:sp>
        <p:nvSpPr>
          <p:cNvPr id="6" name="TextBox 1">
            <a:extLst>
              <a:ext uri="{FF2B5EF4-FFF2-40B4-BE49-F238E27FC236}">
                <a16:creationId xmlns:a16="http://schemas.microsoft.com/office/drawing/2014/main" id="{13F16FA9-A005-0F8A-A89C-D08B9A5C9016}"/>
              </a:ext>
            </a:extLst>
          </p:cNvPr>
          <p:cNvSpPr txBox="1"/>
          <p:nvPr/>
        </p:nvSpPr>
        <p:spPr>
          <a:xfrm>
            <a:off x="573024" y="2021050"/>
            <a:ext cx="10058400" cy="400110"/>
          </a:xfrm>
          <a:prstGeom prst="rect">
            <a:avLst/>
          </a:prstGeom>
          <a:noFill/>
        </p:spPr>
        <p:txBody>
          <a:bodyPr wrap="square">
            <a:spAutoFit/>
          </a:bodyPr>
          <a:lstStyle/>
          <a:p>
            <a:pPr algn="l"/>
            <a:r>
              <a:rPr lang="es-MX" sz="2000" i="1" dirty="0">
                <a:solidFill>
                  <a:srgbClr val="2A9D8F"/>
                </a:solidFill>
                <a:latin typeface="Aptos"/>
              </a:rPr>
              <a:t>¿Qué solución se propone?</a:t>
            </a:r>
            <a:endParaRPr sz="2000" i="1" dirty="0">
              <a:solidFill>
                <a:srgbClr val="2A9D8F"/>
              </a:solidFill>
              <a:latin typeface="Aptos"/>
            </a:endParaRPr>
          </a:p>
        </p:txBody>
      </p:sp>
      <p:sp>
        <p:nvSpPr>
          <p:cNvPr id="7" name="TextBox 1">
            <a:extLst>
              <a:ext uri="{FF2B5EF4-FFF2-40B4-BE49-F238E27FC236}">
                <a16:creationId xmlns:a16="http://schemas.microsoft.com/office/drawing/2014/main" id="{BECF93E2-A638-97A7-4AFB-B8911D8DC3A1}"/>
              </a:ext>
            </a:extLst>
          </p:cNvPr>
          <p:cNvSpPr txBox="1"/>
          <p:nvPr/>
        </p:nvSpPr>
        <p:spPr>
          <a:xfrm>
            <a:off x="573024" y="2337149"/>
            <a:ext cx="10058400" cy="1323439"/>
          </a:xfrm>
          <a:prstGeom prst="rect">
            <a:avLst/>
          </a:prstGeom>
          <a:noFill/>
        </p:spPr>
        <p:txBody>
          <a:bodyPr wrap="square">
            <a:spAutoFit/>
          </a:bodyPr>
          <a:lstStyle/>
          <a:p>
            <a:r>
              <a:rPr lang="es-MX" sz="2000" dirty="0"/>
              <a:t>Este análisis se basa exclusivamente en un conjunto de datos de </a:t>
            </a:r>
            <a:r>
              <a:rPr lang="es-MX" sz="2000" b="1" dirty="0"/>
              <a:t>ligas de primera división europea</a:t>
            </a:r>
            <a:r>
              <a:rPr lang="es-MX" sz="2000" dirty="0"/>
              <a:t>. En base al histograma, podemos observar que el margen de crecimiento (gap) de un prospecto joven incluido en este </a:t>
            </a:r>
            <a:r>
              <a:rPr lang="es-MX" sz="2000" dirty="0" err="1"/>
              <a:t>dataset</a:t>
            </a:r>
            <a:r>
              <a:rPr lang="es-MX" sz="2000" dirty="0"/>
              <a:t> </a:t>
            </a:r>
            <a:r>
              <a:rPr lang="es-MX" sz="2000" b="1" dirty="0"/>
              <a:t>tiende a concentrarse entre los 7 y 11 puntos</a:t>
            </a:r>
            <a:r>
              <a:rPr lang="es-MX" sz="2000" dirty="0"/>
              <a:t>. Este comportamiento de la muestra define nuestro estándar de mercado.</a:t>
            </a:r>
            <a:endParaRPr sz="2000" b="1" dirty="0">
              <a:solidFill>
                <a:srgbClr val="2A9D8F"/>
              </a:solidFill>
              <a:latin typeface="Aptos"/>
            </a:endParaRPr>
          </a:p>
        </p:txBody>
      </p:sp>
      <p:sp>
        <p:nvSpPr>
          <p:cNvPr id="8" name="TextBox 1">
            <a:extLst>
              <a:ext uri="{FF2B5EF4-FFF2-40B4-BE49-F238E27FC236}">
                <a16:creationId xmlns:a16="http://schemas.microsoft.com/office/drawing/2014/main" id="{DFBB8AC0-24AD-3A20-EFD5-20B7C8CCA133}"/>
              </a:ext>
            </a:extLst>
          </p:cNvPr>
          <p:cNvSpPr txBox="1"/>
          <p:nvPr/>
        </p:nvSpPr>
        <p:spPr>
          <a:xfrm>
            <a:off x="573024" y="3460533"/>
            <a:ext cx="10058400" cy="400110"/>
          </a:xfrm>
          <a:prstGeom prst="rect">
            <a:avLst/>
          </a:prstGeom>
          <a:noFill/>
        </p:spPr>
        <p:txBody>
          <a:bodyPr wrap="square">
            <a:spAutoFit/>
          </a:bodyPr>
          <a:lstStyle/>
          <a:p>
            <a:pPr algn="l"/>
            <a:r>
              <a:rPr lang="es-MX" sz="2000" i="1" dirty="0">
                <a:solidFill>
                  <a:srgbClr val="2A9D8F"/>
                </a:solidFill>
                <a:latin typeface="Aptos"/>
              </a:rPr>
              <a:t>¿Qué implicaciones hay para el negocio?</a:t>
            </a:r>
            <a:endParaRPr sz="2000" i="1" dirty="0">
              <a:solidFill>
                <a:srgbClr val="2A9D8F"/>
              </a:solidFill>
              <a:latin typeface="Aptos"/>
            </a:endParaRPr>
          </a:p>
        </p:txBody>
      </p:sp>
      <p:sp>
        <p:nvSpPr>
          <p:cNvPr id="10" name="TextBox 1">
            <a:extLst>
              <a:ext uri="{FF2B5EF4-FFF2-40B4-BE49-F238E27FC236}">
                <a16:creationId xmlns:a16="http://schemas.microsoft.com/office/drawing/2014/main" id="{CE682637-2F7F-81C4-0CC7-1DB57BA21EF6}"/>
              </a:ext>
            </a:extLst>
          </p:cNvPr>
          <p:cNvSpPr txBox="1"/>
          <p:nvPr/>
        </p:nvSpPr>
        <p:spPr>
          <a:xfrm>
            <a:off x="573024" y="3731692"/>
            <a:ext cx="10058400" cy="2862322"/>
          </a:xfrm>
          <a:prstGeom prst="rect">
            <a:avLst/>
          </a:prstGeom>
          <a:noFill/>
        </p:spPr>
        <p:txBody>
          <a:bodyPr wrap="square">
            <a:spAutoFit/>
          </a:bodyPr>
          <a:lstStyle/>
          <a:p>
            <a:r>
              <a:rPr lang="es-MX" sz="2000" dirty="0"/>
              <a:t>El departamento de </a:t>
            </a:r>
            <a:r>
              <a:rPr lang="es-MX" sz="2000" i="1" dirty="0" err="1"/>
              <a:t>scouting</a:t>
            </a:r>
            <a:r>
              <a:rPr lang="es-MX" sz="2000" dirty="0"/>
              <a:t> debe ignorar el centro de la gráfica y enfocarse exclusivamente en la "cola derecha" (prospectos con un </a:t>
            </a:r>
            <a:r>
              <a:rPr lang="es-MX" sz="2000" i="1" dirty="0"/>
              <a:t>gap</a:t>
            </a:r>
            <a:r>
              <a:rPr lang="es-MX" sz="2000" dirty="0"/>
              <a:t> mayor a 12-14 puntos). Estos son los "activos infravalorados": jugadores cuyo costo de transferencia actual es bajo porque su rendimiento inmediato no refleja su techo real. Aquí es donde el club puede comprar barato y vender caro.</a:t>
            </a:r>
          </a:p>
          <a:p>
            <a:endParaRPr lang="es-MX" sz="2000" dirty="0"/>
          </a:p>
          <a:p>
            <a:r>
              <a:rPr lang="es-MX" sz="2000" dirty="0"/>
              <a:t>La concentración masiva de jugadores en el </a:t>
            </a:r>
            <a:r>
              <a:rPr lang="es-MX" sz="2000" i="1" dirty="0"/>
              <a:t>gap</a:t>
            </a:r>
            <a:r>
              <a:rPr lang="es-MX" sz="2000" dirty="0"/>
              <a:t> de 7 a 8 puntos nos dice que el salto a la élite es raro. Un prospecto que hoy tiene 65 de valoración, estadísticamente solo llegará a 73. Esto ayuda al cuerpo técnico a calibrar expectativas y no sobrevalorar a la cantera o a los fichajes jóvenes promedio.</a:t>
            </a:r>
            <a:endParaRPr sz="2000" b="1" dirty="0">
              <a:solidFill>
                <a:srgbClr val="2A9D8F"/>
              </a:solidFill>
              <a:latin typeface="Aptos"/>
            </a:endParaRPr>
          </a:p>
        </p:txBody>
      </p:sp>
      <p:sp>
        <p:nvSpPr>
          <p:cNvPr id="11" name="TextBox 1">
            <a:extLst>
              <a:ext uri="{FF2B5EF4-FFF2-40B4-BE49-F238E27FC236}">
                <a16:creationId xmlns:a16="http://schemas.microsoft.com/office/drawing/2014/main" id="{7B9EFF4C-95E7-2FFD-CF61-E7C1AE6C2429}"/>
              </a:ext>
            </a:extLst>
          </p:cNvPr>
          <p:cNvSpPr txBox="1"/>
          <p:nvPr/>
        </p:nvSpPr>
        <p:spPr>
          <a:xfrm>
            <a:off x="573024" y="4946486"/>
            <a:ext cx="10058400" cy="400110"/>
          </a:xfrm>
          <a:prstGeom prst="rect">
            <a:avLst/>
          </a:prstGeom>
          <a:noFill/>
        </p:spPr>
        <p:txBody>
          <a:bodyPr wrap="square">
            <a:spAutoFit/>
          </a:bodyPr>
          <a:lstStyle/>
          <a:p>
            <a:pPr algn="l"/>
            <a:r>
              <a:rPr lang="es-MX" sz="2000" i="1" dirty="0">
                <a:solidFill>
                  <a:srgbClr val="2A9D8F"/>
                </a:solidFill>
                <a:latin typeface="Aptos"/>
              </a:rPr>
              <a:t>Mejores decisiones que se pueden tomar en base al análisis:</a:t>
            </a:r>
            <a:endParaRPr sz="2000" i="1" dirty="0">
              <a:solidFill>
                <a:srgbClr val="2A9D8F"/>
              </a:solidFill>
              <a:latin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04: Cuanto margen tienen los porteros jovenes?</a:t>
            </a:r>
          </a:p>
        </p:txBody>
      </p:sp>
      <p:pic>
        <p:nvPicPr>
          <p:cNvPr id="3" name="Picture 2" descr="image.png"/>
          <p:cNvPicPr>
            <a:picLocks noChangeAspect="1"/>
          </p:cNvPicPr>
          <p:nvPr/>
        </p:nvPicPr>
        <p:blipFill>
          <a:blip r:embed="rId2"/>
          <a:stretch>
            <a:fillRect/>
          </a:stretch>
        </p:blipFill>
        <p:spPr>
          <a:xfrm>
            <a:off x="1005839" y="1188720"/>
            <a:ext cx="9875520" cy="49377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00110"/>
          </a:xfrm>
          <a:prstGeom prst="rect">
            <a:avLst/>
          </a:prstGeom>
          <a:noFill/>
        </p:spPr>
        <p:txBody>
          <a:bodyPr wrap="square">
            <a:spAutoFit/>
          </a:bodyPr>
          <a:lstStyle/>
          <a:p>
            <a:pPr algn="l"/>
            <a:r>
              <a:rPr sz="2000" b="1" dirty="0">
                <a:solidFill>
                  <a:srgbClr val="2A9D8F"/>
                </a:solidFill>
                <a:latin typeface="Aptos"/>
              </a:rPr>
              <a:t>Lectura del an</a:t>
            </a:r>
            <a:r>
              <a:rPr lang="es-MX" sz="2000" b="1" dirty="0">
                <a:solidFill>
                  <a:srgbClr val="2A9D8F"/>
                </a:solidFill>
                <a:latin typeface="Aptos"/>
              </a:rPr>
              <a:t>á</a:t>
            </a:r>
            <a:r>
              <a:rPr sz="2000" b="1" dirty="0" err="1">
                <a:solidFill>
                  <a:srgbClr val="2A9D8F"/>
                </a:solidFill>
                <a:latin typeface="Aptos"/>
              </a:rPr>
              <a:t>lisis</a:t>
            </a:r>
            <a:r>
              <a:rPr sz="2000" b="1" dirty="0">
                <a:solidFill>
                  <a:srgbClr val="2A9D8F"/>
                </a:solidFill>
                <a:latin typeface="Aptos"/>
              </a:rPr>
              <a:t> 04: </a:t>
            </a:r>
            <a:r>
              <a:rPr lang="es-MX" sz="2000" b="1" dirty="0">
                <a:solidFill>
                  <a:srgbClr val="2A9D8F"/>
                </a:solidFill>
                <a:latin typeface="Aptos"/>
              </a:rPr>
              <a:t>¿</a:t>
            </a:r>
            <a:r>
              <a:rPr sz="2000" b="1" dirty="0">
                <a:solidFill>
                  <a:srgbClr val="2A9D8F"/>
                </a:solidFill>
                <a:latin typeface="Aptos"/>
              </a:rPr>
              <a:t>Cu</a:t>
            </a:r>
            <a:r>
              <a:rPr lang="es-MX" sz="2000" b="1" dirty="0">
                <a:solidFill>
                  <a:srgbClr val="2A9D8F"/>
                </a:solidFill>
                <a:latin typeface="Aptos"/>
              </a:rPr>
              <a:t>á</a:t>
            </a:r>
            <a:r>
              <a:rPr sz="2000" b="1" dirty="0" err="1">
                <a:solidFill>
                  <a:srgbClr val="2A9D8F"/>
                </a:solidFill>
                <a:latin typeface="Aptos"/>
              </a:rPr>
              <a:t>nto</a:t>
            </a:r>
            <a:r>
              <a:rPr sz="2000" b="1" dirty="0">
                <a:solidFill>
                  <a:srgbClr val="2A9D8F"/>
                </a:solidFill>
                <a:latin typeface="Aptos"/>
              </a:rPr>
              <a:t> </a:t>
            </a:r>
            <a:r>
              <a:rPr sz="2000" b="1" dirty="0" err="1">
                <a:solidFill>
                  <a:srgbClr val="2A9D8F"/>
                </a:solidFill>
                <a:latin typeface="Aptos"/>
              </a:rPr>
              <a:t>margen</a:t>
            </a:r>
            <a:r>
              <a:rPr sz="2000" b="1" dirty="0">
                <a:solidFill>
                  <a:srgbClr val="2A9D8F"/>
                </a:solidFill>
                <a:latin typeface="Aptos"/>
              </a:rPr>
              <a:t> </a:t>
            </a:r>
            <a:r>
              <a:rPr sz="2000" b="1" dirty="0" err="1">
                <a:solidFill>
                  <a:srgbClr val="2A9D8F"/>
                </a:solidFill>
                <a:latin typeface="Aptos"/>
              </a:rPr>
              <a:t>tienen</a:t>
            </a:r>
            <a:r>
              <a:rPr sz="2000" b="1" dirty="0">
                <a:solidFill>
                  <a:srgbClr val="2A9D8F"/>
                </a:solidFill>
                <a:latin typeface="Aptos"/>
              </a:rPr>
              <a:t> </a:t>
            </a:r>
            <a:r>
              <a:rPr sz="2000" b="1" dirty="0" err="1">
                <a:solidFill>
                  <a:srgbClr val="2A9D8F"/>
                </a:solidFill>
                <a:latin typeface="Aptos"/>
              </a:rPr>
              <a:t>los</a:t>
            </a:r>
            <a:r>
              <a:rPr sz="2000" b="1" dirty="0">
                <a:solidFill>
                  <a:srgbClr val="2A9D8F"/>
                </a:solidFill>
                <a:latin typeface="Aptos"/>
              </a:rPr>
              <a:t> </a:t>
            </a:r>
            <a:r>
              <a:rPr sz="2000" b="1" dirty="0" err="1">
                <a:solidFill>
                  <a:srgbClr val="2A9D8F"/>
                </a:solidFill>
                <a:latin typeface="Aptos"/>
              </a:rPr>
              <a:t>porteros</a:t>
            </a:r>
            <a:r>
              <a:rPr sz="2000" b="1" dirty="0">
                <a:solidFill>
                  <a:srgbClr val="2A9D8F"/>
                </a:solidFill>
                <a:latin typeface="Aptos"/>
              </a:rPr>
              <a:t> </a:t>
            </a:r>
            <a:r>
              <a:rPr sz="2000" b="1" dirty="0" err="1">
                <a:solidFill>
                  <a:srgbClr val="2A9D8F"/>
                </a:solidFill>
                <a:latin typeface="Aptos"/>
              </a:rPr>
              <a:t>jovenes</a:t>
            </a:r>
            <a:r>
              <a:rPr sz="2000" b="1" dirty="0">
                <a:solidFill>
                  <a:srgbClr val="2A9D8F"/>
                </a:solidFill>
                <a:latin typeface="Aptos"/>
              </a:rPr>
              <a:t>?</a:t>
            </a:r>
          </a:p>
        </p:txBody>
      </p:sp>
      <p:sp>
        <p:nvSpPr>
          <p:cNvPr id="4" name="TextBox 1">
            <a:extLst>
              <a:ext uri="{FF2B5EF4-FFF2-40B4-BE49-F238E27FC236}">
                <a16:creationId xmlns:a16="http://schemas.microsoft.com/office/drawing/2014/main" id="{E019D2EA-E5F7-D45E-AFC5-02FD04A56D26}"/>
              </a:ext>
            </a:extLst>
          </p:cNvPr>
          <p:cNvSpPr txBox="1"/>
          <p:nvPr/>
        </p:nvSpPr>
        <p:spPr>
          <a:xfrm>
            <a:off x="640080" y="857310"/>
            <a:ext cx="10058400" cy="400110"/>
          </a:xfrm>
          <a:prstGeom prst="rect">
            <a:avLst/>
          </a:prstGeom>
          <a:noFill/>
        </p:spPr>
        <p:txBody>
          <a:bodyPr wrap="square">
            <a:spAutoFit/>
          </a:bodyPr>
          <a:lstStyle/>
          <a:p>
            <a:pPr algn="l"/>
            <a:r>
              <a:rPr lang="es-MX" sz="2000" i="1" dirty="0">
                <a:solidFill>
                  <a:srgbClr val="2A9D8F"/>
                </a:solidFill>
                <a:latin typeface="Aptos"/>
              </a:rPr>
              <a:t>¿Qué problema abordamos con este análisis?</a:t>
            </a:r>
            <a:endParaRPr sz="2000" i="1" dirty="0">
              <a:solidFill>
                <a:srgbClr val="2A9D8F"/>
              </a:solidFill>
              <a:latin typeface="Aptos"/>
            </a:endParaRPr>
          </a:p>
        </p:txBody>
      </p:sp>
      <p:sp>
        <p:nvSpPr>
          <p:cNvPr id="5" name="TextBox 1">
            <a:extLst>
              <a:ext uri="{FF2B5EF4-FFF2-40B4-BE49-F238E27FC236}">
                <a16:creationId xmlns:a16="http://schemas.microsoft.com/office/drawing/2014/main" id="{226F4F46-2C59-F07F-7048-441D52DBF7F1}"/>
              </a:ext>
            </a:extLst>
          </p:cNvPr>
          <p:cNvSpPr txBox="1"/>
          <p:nvPr/>
        </p:nvSpPr>
        <p:spPr>
          <a:xfrm>
            <a:off x="617156" y="1209765"/>
            <a:ext cx="10058400" cy="1015663"/>
          </a:xfrm>
          <a:prstGeom prst="rect">
            <a:avLst/>
          </a:prstGeom>
          <a:noFill/>
        </p:spPr>
        <p:txBody>
          <a:bodyPr wrap="square">
            <a:spAutoFit/>
          </a:bodyPr>
          <a:lstStyle/>
          <a:p>
            <a:r>
              <a:rPr lang="es-MX" sz="2000" dirty="0"/>
              <a:t>El mercado de porteros jóvenes es reducido y altamente cotizado. Evaluar si un arquero Sub-23 realmente va a dar el salto a la élite o si se quedará estancado suele ser una apuesta a ciegas que puede costar millones si sale mal.</a:t>
            </a:r>
          </a:p>
        </p:txBody>
      </p:sp>
      <p:sp>
        <p:nvSpPr>
          <p:cNvPr id="6" name="TextBox 1">
            <a:extLst>
              <a:ext uri="{FF2B5EF4-FFF2-40B4-BE49-F238E27FC236}">
                <a16:creationId xmlns:a16="http://schemas.microsoft.com/office/drawing/2014/main" id="{1B9FD7BD-8F5A-570A-4665-2D73249BB1FA}"/>
              </a:ext>
            </a:extLst>
          </p:cNvPr>
          <p:cNvSpPr txBox="1"/>
          <p:nvPr/>
        </p:nvSpPr>
        <p:spPr>
          <a:xfrm>
            <a:off x="594232" y="2199931"/>
            <a:ext cx="10058400" cy="400110"/>
          </a:xfrm>
          <a:prstGeom prst="rect">
            <a:avLst/>
          </a:prstGeom>
          <a:noFill/>
        </p:spPr>
        <p:txBody>
          <a:bodyPr wrap="square">
            <a:spAutoFit/>
          </a:bodyPr>
          <a:lstStyle/>
          <a:p>
            <a:pPr algn="l"/>
            <a:r>
              <a:rPr lang="es-MX" sz="2000" i="1" dirty="0">
                <a:solidFill>
                  <a:srgbClr val="2A9D8F"/>
                </a:solidFill>
                <a:latin typeface="Aptos"/>
              </a:rPr>
              <a:t>¿Qué identificamos en el análisis?</a:t>
            </a:r>
            <a:endParaRPr sz="2000" i="1" dirty="0">
              <a:solidFill>
                <a:srgbClr val="2A9D8F"/>
              </a:solidFill>
              <a:latin typeface="Aptos"/>
            </a:endParaRPr>
          </a:p>
        </p:txBody>
      </p:sp>
      <p:sp>
        <p:nvSpPr>
          <p:cNvPr id="9" name="TextBox 1">
            <a:extLst>
              <a:ext uri="{FF2B5EF4-FFF2-40B4-BE49-F238E27FC236}">
                <a16:creationId xmlns:a16="http://schemas.microsoft.com/office/drawing/2014/main" id="{F70CC26F-0144-C2D7-B45A-B09E41283392}"/>
              </a:ext>
            </a:extLst>
          </p:cNvPr>
          <p:cNvSpPr txBox="1"/>
          <p:nvPr/>
        </p:nvSpPr>
        <p:spPr>
          <a:xfrm>
            <a:off x="617156" y="2577883"/>
            <a:ext cx="10058400" cy="1015663"/>
          </a:xfrm>
          <a:prstGeom prst="rect">
            <a:avLst/>
          </a:prstGeom>
          <a:noFill/>
        </p:spPr>
        <p:txBody>
          <a:bodyPr wrap="square">
            <a:spAutoFit/>
          </a:bodyPr>
          <a:lstStyle/>
          <a:p>
            <a:r>
              <a:rPr lang="es-MX" sz="2000" dirty="0"/>
              <a:t>Los datos nos marcan un estándar claro: un portero joven promedio tiene un margen de mejora (gap) de entre 7 y 12 puntos de valoración antes de tocar su techo. El crecimiento en esta posición es ligeramente superior al de los jugadores de campo.</a:t>
            </a:r>
          </a:p>
        </p:txBody>
      </p:sp>
      <p:sp>
        <p:nvSpPr>
          <p:cNvPr id="10" name="TextBox 1">
            <a:extLst>
              <a:ext uri="{FF2B5EF4-FFF2-40B4-BE49-F238E27FC236}">
                <a16:creationId xmlns:a16="http://schemas.microsoft.com/office/drawing/2014/main" id="{9D30A740-C856-02DB-6C59-0533D306ADB1}"/>
              </a:ext>
            </a:extLst>
          </p:cNvPr>
          <p:cNvSpPr txBox="1"/>
          <p:nvPr/>
        </p:nvSpPr>
        <p:spPr>
          <a:xfrm>
            <a:off x="594232" y="3593546"/>
            <a:ext cx="10058400" cy="400110"/>
          </a:xfrm>
          <a:prstGeom prst="rect">
            <a:avLst/>
          </a:prstGeom>
          <a:noFill/>
        </p:spPr>
        <p:txBody>
          <a:bodyPr wrap="square">
            <a:spAutoFit/>
          </a:bodyPr>
          <a:lstStyle/>
          <a:p>
            <a:pPr algn="l"/>
            <a:r>
              <a:rPr lang="es-MX" sz="2000" i="1" dirty="0">
                <a:solidFill>
                  <a:srgbClr val="2A9D8F"/>
                </a:solidFill>
                <a:latin typeface="Aptos"/>
              </a:rPr>
              <a:t>¿Qué impacto se tiene en el negocio?</a:t>
            </a:r>
            <a:endParaRPr sz="2000" i="1" dirty="0">
              <a:solidFill>
                <a:srgbClr val="2A9D8F"/>
              </a:solidFill>
              <a:latin typeface="Aptos"/>
            </a:endParaRPr>
          </a:p>
        </p:txBody>
      </p:sp>
      <p:sp>
        <p:nvSpPr>
          <p:cNvPr id="11" name="TextBox 1">
            <a:extLst>
              <a:ext uri="{FF2B5EF4-FFF2-40B4-BE49-F238E27FC236}">
                <a16:creationId xmlns:a16="http://schemas.microsoft.com/office/drawing/2014/main" id="{5AC6173A-B7A4-3CC3-C22E-03D136E83243}"/>
              </a:ext>
            </a:extLst>
          </p:cNvPr>
          <p:cNvSpPr txBox="1"/>
          <p:nvPr/>
        </p:nvSpPr>
        <p:spPr>
          <a:xfrm>
            <a:off x="617156" y="3946001"/>
            <a:ext cx="10058400" cy="1938992"/>
          </a:xfrm>
          <a:prstGeom prst="rect">
            <a:avLst/>
          </a:prstGeom>
          <a:noFill/>
        </p:spPr>
        <p:txBody>
          <a:bodyPr wrap="square">
            <a:spAutoFit/>
          </a:bodyPr>
          <a:lstStyle/>
          <a:p>
            <a:r>
              <a:rPr lang="es-MX" sz="2000" dirty="0"/>
              <a:t>Debido a que el volumen de porteros jóvenes en el mercado es estadísticamente bajo (la gráfica muestra una muestra pequeña), encontrar un prospecto que supere los 13 o 14 puntos de margen es una rareza de altísimo valor. El departamento de </a:t>
            </a:r>
            <a:r>
              <a:rPr lang="es-MX" sz="2000" i="1" dirty="0" err="1"/>
              <a:t>scouting</a:t>
            </a:r>
            <a:r>
              <a:rPr lang="es-MX" sz="2000" dirty="0"/>
              <a:t> debe centrar sus recursos económicos exclusivamente en estos casos atípicos (la extrema derecha del gráfico). Fichar a uno de estos talentos hoy asegura la portería del club para la próxima década a un costo de transferencia inicial muy bajo.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05: Que distingue a los jovenes con alto potencial?</a:t>
            </a:r>
          </a:p>
        </p:txBody>
      </p:sp>
      <p:pic>
        <p:nvPicPr>
          <p:cNvPr id="3" name="Picture 2" descr="image.png"/>
          <p:cNvPicPr>
            <a:picLocks noChangeAspect="1"/>
          </p:cNvPicPr>
          <p:nvPr/>
        </p:nvPicPr>
        <p:blipFill>
          <a:blip r:embed="rId2"/>
          <a:stretch>
            <a:fillRect/>
          </a:stretch>
        </p:blipFill>
        <p:spPr>
          <a:xfrm>
            <a:off x="2416628" y="1188720"/>
            <a:ext cx="7053942" cy="49377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05: Que distingue a los jovenes con alto potencial?</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En este gráfico se observa que los jugadores jóvenes de alto potencial no se diferencian tanto por atributos defensivos o físicos puros, sino sobre todo por rasgos técnicos y ofensivos. Los atributos que más sobresalen son DRIBBLING, CURVE, BALL_CONTROL, LONG_SHOTS, POSITIONING y VISION, lo que sugiere que el techo de desarrollo suele estar más asociado con calidad técnica y capacidad ofensiva que con fuerza o juego defensivo.</a:t>
            </a:r>
          </a:p>
          <a:p>
            <a:pPr>
              <a:spcAft>
                <a:spcPts val="1000"/>
              </a:spcAft>
            </a:pPr>
            <a:r>
              <a:rPr sz="1800">
                <a:solidFill>
                  <a:srgbClr val="1F2937"/>
                </a:solidFill>
                <a:latin typeface="Aptos"/>
              </a:rPr>
              <a:t>También destaca que SHORT_PASSING, CROSSING, SHOT_POWER y REACTIONS aparecen entre las diferencias más altas. Esto sugiere que los jugadores más prometedores no solo tienen habilidad individual, sino también mejores recursos para participar en la circulación del balón y resolver jugadas con más calidad.</a:t>
            </a:r>
          </a:p>
          <a:p>
            <a:pPr>
              <a:spcAft>
                <a:spcPts val="1000"/>
              </a:spcAft>
            </a:pPr>
            <a:r>
              <a:rPr sz="1800">
                <a:solidFill>
                  <a:srgbClr val="1F2937"/>
                </a:solidFill>
                <a:latin typeface="Aptos"/>
              </a:rPr>
              <a:t>En conjunto, el gráfico sugiere que, al buscar talento joven con margen de crecimiento, conviene priorizar perfiles con buena técnica ofensiva, control de balón y lectura de juego. De todos modos, este resultado debe interpretarse como una asociación y no como causalidad, ya que tener estos atributos no garantiza por sí solo que un jugador alcance su potencial.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06: Que tan cerrados son los partidos?</a:t>
            </a:r>
          </a:p>
        </p:txBody>
      </p:sp>
      <p:pic>
        <p:nvPicPr>
          <p:cNvPr id="3" name="Picture 2" descr="image.png"/>
          <p:cNvPicPr>
            <a:picLocks noChangeAspect="1"/>
          </p:cNvPicPr>
          <p:nvPr/>
        </p:nvPicPr>
        <p:blipFill>
          <a:blip r:embed="rId2"/>
          <a:stretch>
            <a:fillRect/>
          </a:stretch>
        </p:blipFill>
        <p:spPr>
          <a:xfrm>
            <a:off x="2548889" y="1188720"/>
            <a:ext cx="6789420" cy="49377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06: Que tan cerrados son los partidos?</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En el gráfico de anillo se observa que la categoría más frecuente es la de partidos Cerrados, es decir, aquellos definidos por 1 gol de diferencia, con 9,598 partidos, equivalentes a aproximadamente 37.0% del total. Además, si se suman los Empates y los partidos Cerrados, se obtiene alrededor de 62.3% de todos los encuentros. Esto indica que la mayor parte de los partidos del dataset se mueve en márgenes pequeños y competitivos.</a:t>
            </a:r>
          </a:p>
          <a:p>
            <a:pPr>
              <a:spcAft>
                <a:spcPts val="1000"/>
              </a:spcAft>
            </a:pPr>
            <a:r>
              <a:rPr sz="1800">
                <a:solidFill>
                  <a:srgbClr val="1F2937"/>
                </a:solidFill>
                <a:latin typeface="Aptos"/>
              </a:rPr>
              <a:t>Por otro lado, los partidos Moderados, definidos por 2 goles de diferencia, representan cerca de 22.1%, mientras que los partidos Amplios, con 3 o más goles de diferencia, son los menos frecuentes con aproximadamente 15.6%. Esto sugiere que los resultados abultados existen, pero son claramente menos comunes que los partidos ajustados.</a:t>
            </a:r>
          </a:p>
          <a:p>
            <a:pPr>
              <a:spcAft>
                <a:spcPts val="1000"/>
              </a:spcAft>
            </a:pPr>
            <a:r>
              <a:rPr sz="1800">
                <a:solidFill>
                  <a:srgbClr val="1F2937"/>
                </a:solidFill>
                <a:latin typeface="Aptos"/>
              </a:rPr>
              <a:t>En conjunto, el gráfico respalda la idea de que la mayoría de los partidos suelen ser cerrados. Desde una perspectiva de análisis deportivo, esto sugiere que pequeñas diferencias de rendimiento, decisiones tácticas o momentos puntuales del juego pueden tener un impacto grande en el resultado final, porque los márgenes amplios no son la norma sino la excepción.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07: En que destacan las altas promesas?</a:t>
            </a:r>
          </a:p>
        </p:txBody>
      </p:sp>
      <p:pic>
        <p:nvPicPr>
          <p:cNvPr id="3" name="Picture 2" descr="image.png"/>
          <p:cNvPicPr>
            <a:picLocks noChangeAspect="1"/>
          </p:cNvPicPr>
          <p:nvPr/>
        </p:nvPicPr>
        <p:blipFill>
          <a:blip r:embed="rId2"/>
          <a:stretch>
            <a:fillRect/>
          </a:stretch>
        </p:blipFill>
        <p:spPr>
          <a:xfrm>
            <a:off x="1005839" y="1188720"/>
            <a:ext cx="9875520" cy="49377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07: En que destacan las altas promesas?</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El boxplot muestra que el grupo de Alta Promesa (Top 10%) presenta distribuciones más altas que el grupo de Resto de Jóvenes en los seis atributos evaluados. Esto se nota porque, en todos los casos, la mediana de las altas promesas queda por encima de la mediana del resto, lo que indica una ventaja consistente y no aislada en un solo atributo.</a:t>
            </a:r>
          </a:p>
          <a:p>
            <a:pPr>
              <a:spcAft>
                <a:spcPts val="1000"/>
              </a:spcAft>
            </a:pPr>
            <a:r>
              <a:rPr sz="1800">
                <a:solidFill>
                  <a:srgbClr val="1F2937"/>
                </a:solidFill>
                <a:latin typeface="Aptos"/>
              </a:rPr>
              <a:t>Las diferencias más marcadas aparecen en atributos como Visión, Control de Balón, Reacciones y Pase Corto. Esto sugiere que los jugadores jóvenes con mayor potencial no solo destacan por condiciones físicas, sino también por atributos técnicos y de lectura del juego. En Velocidad Sprint y Resistencia también se observa una ventaja para las altas promesas, aunque la separación entre grupos parece algo menor.</a:t>
            </a:r>
          </a:p>
          <a:p>
            <a:pPr>
              <a:spcAft>
                <a:spcPts val="1000"/>
              </a:spcAft>
            </a:pPr>
            <a:r>
              <a:rPr sz="1800">
                <a:solidFill>
                  <a:srgbClr val="1F2937"/>
                </a:solidFill>
                <a:latin typeface="Aptos"/>
              </a:rPr>
              <a:t>En conjunto, la gráfica sugiere que el potencial alto en jugadores jóvenes está asociado a un perfil más completo y balanceado. Es decir, las altas promesas no sobresalen solo en un atributo puntual, sino que tienden a mantener niveles superiores en varias dimensiones importantes del rendimiento.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08: A que edad rinden mejor los jugadores?</a:t>
            </a:r>
          </a:p>
        </p:txBody>
      </p:sp>
      <p:pic>
        <p:nvPicPr>
          <p:cNvPr id="3" name="Picture 2" descr="image.png"/>
          <p:cNvPicPr>
            <a:picLocks noChangeAspect="1"/>
          </p:cNvPicPr>
          <p:nvPr/>
        </p:nvPicPr>
        <p:blipFill>
          <a:blip r:embed="rId2"/>
          <a:stretch>
            <a:fillRect/>
          </a:stretch>
        </p:blipFill>
        <p:spPr>
          <a:xfrm>
            <a:off x="1828800" y="1188720"/>
            <a:ext cx="8229600" cy="49377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08: A que edad rinden mejor los jugadores?</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Al observar la curva de tendencia en este gráfico de líneas, podemos identificar con claridad las tres etapas biológicas y deportivas que definen la carrera de un futbolista profesional:</a:t>
            </a:r>
          </a:p>
          <a:p>
            <a:pPr>
              <a:spcAft>
                <a:spcPts val="1000"/>
              </a:spcAft>
            </a:pPr>
            <a:r>
              <a:rPr sz="1800">
                <a:solidFill>
                  <a:srgbClr val="1F2937"/>
                </a:solidFill>
                <a:latin typeface="Aptos"/>
              </a:rPr>
              <a:t>- Fase de crecimiento: desde las edades más tempranas (16-18 años), la línea muestra una pendiente ascendente constante y pronunciada. Es en esta etapa donde los jugadores adquieren madurez táctica, experiencia y desarrollo físico.</a:t>
            </a:r>
            <a:br/>
            <a:r>
              <a:rPr sz="1800">
                <a:solidFill>
                  <a:srgbClr val="1F2937"/>
                </a:solidFill>
                <a:latin typeface="Aptos"/>
              </a:rPr>
              <a:t>- El "prime" o pico de rendimiento: la curva alcanza su punto más alto y forma una "meseta" típica entre los 27 y los 31 años. Es en esta franja donde el jugador encuentra el balance perfecto: combina su máxima experiencia futbolística con un físico aún en óptimas condiciones.</a:t>
            </a:r>
            <a:br/>
            <a:r>
              <a:rPr sz="1800">
                <a:solidFill>
                  <a:srgbClr val="1F2937"/>
                </a:solidFill>
                <a:latin typeface="Aptos"/>
              </a:rPr>
              <a:t>- Fase de declive: a partir de los 32 años, la línea comienza un descenso evidente, reflejando la pérdida natural de capacidades físicas, como velocidad, explosividad o resistencia, que termina por afectar la valoración general.</a:t>
            </a:r>
          </a:p>
          <a:p>
            <a:pPr>
              <a:spcAft>
                <a:spcPts val="1000"/>
              </a:spcAft>
            </a:pPr>
            <a:r>
              <a:rPr sz="1800">
                <a:solidFill>
                  <a:srgbClr val="1F2937"/>
                </a:solidFill>
                <a:latin typeface="Aptos"/>
              </a:rPr>
              <a:t>Este gráfico dicta la lógica financiera y deportiva para armar una plantilla equilibrada. Si el equipo busca éxito inmediato para competir por un campeonato, debe apostar por jugadores en su "prime" (27-30 años), sabiendo que su costo será el más elevado. En cambio, si la directiva busca construir un proyecto a mediano plazo y generar plusvalía, la inversión debe ir hacia la fase de crecimiento (20-23 años), adquiriendo talento cuyo rendimiento y valor de mercado estadísticamente irán al alza.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09: Que formaciones equilibran uso y rendimiento?</a:t>
            </a:r>
          </a:p>
        </p:txBody>
      </p:sp>
      <p:pic>
        <p:nvPicPr>
          <p:cNvPr id="3" name="Picture 2" descr="image.png"/>
          <p:cNvPicPr>
            <a:picLocks noChangeAspect="1"/>
          </p:cNvPicPr>
          <p:nvPr/>
        </p:nvPicPr>
        <p:blipFill>
          <a:blip r:embed="rId2"/>
          <a:stretch>
            <a:fillRect/>
          </a:stretch>
        </p:blipFill>
        <p:spPr>
          <a:xfrm>
            <a:off x="2063931" y="1188720"/>
            <a:ext cx="7759337" cy="49377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09: Que formaciones equilibran uso y rendimiento?</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El bubble plot sugiere que no todas las formaciones combinan del mismo modo frecuencia de uso y rendimiento. En la zona superior derecha, donde coinciden más puntos por partido y una diferencia de gol promedio menos negativa o incluso positiva, aparecen esquemas como 4-3-3, 4-4-2 y 4-2-3-1. Entre ellas, 4-2-3-1 destaca especialmente porque combina un rendimiento competitivo con una burbuja grande, es decir, con una muestra amplia de partidos, lo que hace más confiable la señal.</a:t>
            </a:r>
          </a:p>
          <a:p>
            <a:pPr>
              <a:spcAft>
                <a:spcPts val="1000"/>
              </a:spcAft>
            </a:pPr>
            <a:r>
              <a:rPr sz="1800">
                <a:solidFill>
                  <a:srgbClr val="1F2937"/>
                </a:solidFill>
                <a:latin typeface="Aptos"/>
              </a:rPr>
              <a:t>También aparecen algunas formaciones con buen desempeño, pero con menor respaldo de muestra, como 3-5-2 y otras variantes cercanas al bloque superior. Esto sugiere que pueden ser opciones interesantes, pero conviene ser más prudente al interpretarlas, ya que una menor frecuencia de uso hace más difícil separar un patrón estable de un resultado puntual.</a:t>
            </a:r>
          </a:p>
          <a:p>
            <a:pPr>
              <a:spcAft>
                <a:spcPts val="1000"/>
              </a:spcAft>
            </a:pPr>
            <a:r>
              <a:rPr sz="1800">
                <a:solidFill>
                  <a:srgbClr val="1F2937"/>
                </a:solidFill>
                <a:latin typeface="Aptos"/>
              </a:rPr>
              <a:t>En el extremo opuesto, 5-3-2, 4-5-1 y 4-1-4-1 se ubican en la zona de peor balance, con menos puntos por partido y una diferencia de gol promedio más negativa. En conjunto, la gráfica sugiere que no basta con mirar qué formación se usa más: conviene priorizar esquemas que mantengan un equilibrio entre frecuencia y resultados, y en ese sentido 4-2-3-1 y 4-4-2 parecen alternativas más sólidas que otras formaciones menos consistentes.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10: Que formaciones son mas seguras o mas riesgosas?</a:t>
            </a:r>
          </a:p>
        </p:txBody>
      </p:sp>
      <p:pic>
        <p:nvPicPr>
          <p:cNvPr id="3" name="Picture 2" descr="image.png"/>
          <p:cNvPicPr>
            <a:picLocks noChangeAspect="1"/>
          </p:cNvPicPr>
          <p:nvPr/>
        </p:nvPicPr>
        <p:blipFill>
          <a:blip r:embed="rId2"/>
          <a:stretch>
            <a:fillRect/>
          </a:stretch>
        </p:blipFill>
        <p:spPr>
          <a:xfrm>
            <a:off x="1711234" y="1188720"/>
            <a:ext cx="8464731" cy="49377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10: Que formaciones son mas seguras o mas riesgosas?</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Al ver los resultados, se nota que no todas las formaciones se comportan igual en la cancha. Hay algunas que son más confiables: no siempre ganan, pero pierden poco y te mantienen compitiendo partido a partido, lo cual es clave en torneos largos. Otras son más arriesgadas: te pueden dar muchas victorias, pero también más derrotas, como si el equipo jugara al límite; estas pueden ser útiles cuando necesitas ir por todo, por ejemplo en partidos decisivos.</a:t>
            </a:r>
          </a:p>
          <a:p>
            <a:pPr>
              <a:spcAft>
                <a:spcPts val="1000"/>
              </a:spcAft>
            </a:pPr>
            <a:r>
              <a:rPr sz="1800">
                <a:solidFill>
                  <a:srgbClr val="1F2937"/>
                </a:solidFill>
                <a:latin typeface="Aptos"/>
              </a:rPr>
              <a:t>También están las formaciones más conservadoras, que tienden a empatar mucho: no arriesgan demasiado, pero tampoco marcan tanta diferencia. Para un entrenador, esto se traduce en elegir la formación no solo por estilo, sino por el momento: usar esquemas más sólidos cuando buscas regularidad y control, y formaciones más agresivas cuando necesitas ganar sí o sí, aunque implique asumir más riesgo.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4572000" cy="548640"/>
          </a:xfrm>
          <a:prstGeom prst="rect">
            <a:avLst/>
          </a:prstGeom>
          <a:noFill/>
        </p:spPr>
        <p:txBody>
          <a:bodyPr wrap="square">
            <a:spAutoFit/>
          </a:bodyPr>
          <a:lstStyle/>
          <a:p>
            <a:pPr algn="l"/>
            <a:r>
              <a:rPr sz="2400" b="1">
                <a:solidFill>
                  <a:srgbClr val="1D4E89"/>
                </a:solidFill>
                <a:latin typeface="Aptos"/>
              </a:rPr>
              <a:t>Integrantes</a:t>
            </a:r>
          </a:p>
        </p:txBody>
      </p:sp>
      <p:sp>
        <p:nvSpPr>
          <p:cNvPr id="3" name="TextBox 2"/>
          <p:cNvSpPr txBox="1"/>
          <p:nvPr/>
        </p:nvSpPr>
        <p:spPr>
          <a:xfrm>
            <a:off x="914400" y="2286000"/>
            <a:ext cx="4572000" cy="2743200"/>
          </a:xfrm>
          <a:prstGeom prst="rect">
            <a:avLst/>
          </a:prstGeom>
          <a:noFill/>
        </p:spPr>
        <p:txBody>
          <a:bodyPr wrap="square">
            <a:spAutoFit/>
          </a:bodyPr>
          <a:lstStyle/>
          <a:p>
            <a:pPr>
              <a:spcAft>
                <a:spcPts val="1000"/>
              </a:spcAft>
            </a:pPr>
            <a:r>
              <a:rPr sz="2000">
                <a:solidFill>
                  <a:srgbClr val="1F2937"/>
                </a:solidFill>
                <a:latin typeface="Aptos"/>
              </a:rPr>
              <a:t>Ossian Ramirez</a:t>
            </a:r>
          </a:p>
          <a:p>
            <a:pPr>
              <a:spcAft>
                <a:spcPts val="1000"/>
              </a:spcAft>
            </a:pPr>
            <a:r>
              <a:rPr sz="2000">
                <a:solidFill>
                  <a:srgbClr val="1F2937"/>
                </a:solidFill>
                <a:latin typeface="Aptos"/>
              </a:rPr>
              <a:t>Estefania Elizabeth</a:t>
            </a:r>
          </a:p>
          <a:p>
            <a:pPr>
              <a:spcAft>
                <a:spcPts val="1000"/>
              </a:spcAft>
            </a:pPr>
            <a:r>
              <a:rPr sz="2000">
                <a:solidFill>
                  <a:srgbClr val="1F2937"/>
                </a:solidFill>
                <a:latin typeface="Aptos"/>
              </a:rPr>
              <a:t>Ian Pascual</a:t>
            </a:r>
          </a:p>
          <a:p>
            <a:pPr>
              <a:spcAft>
                <a:spcPts val="1000"/>
              </a:spcAft>
            </a:pPr>
            <a:r>
              <a:rPr sz="2000">
                <a:solidFill>
                  <a:srgbClr val="1F2937"/>
                </a:solidFill>
                <a:latin typeface="Aptos"/>
              </a:rPr>
              <a:t>Karim Jacob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2408</Words>
  <Application>Microsoft Office PowerPoint</Application>
  <PresentationFormat>Personalizado</PresentationFormat>
  <Paragraphs>72</Paragraphs>
  <Slides>22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22</vt:i4>
      </vt:variant>
    </vt:vector>
  </HeadingPairs>
  <TitlesOfParts>
    <vt:vector size="26" baseType="lpstr">
      <vt:lpstr>Aptos</vt: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karimjacob perez</dc:creator>
  <cp:keywords/>
  <dc:description>generated using python-pptx</dc:description>
  <cp:lastModifiedBy>karimjacob perez</cp:lastModifiedBy>
  <cp:revision>2</cp:revision>
  <dcterms:created xsi:type="dcterms:W3CDTF">2013-01-27T09:14:16Z</dcterms:created>
  <dcterms:modified xsi:type="dcterms:W3CDTF">2026-05-22T06:31:00Z</dcterms:modified>
  <cp:category/>
</cp:coreProperties>
</file>